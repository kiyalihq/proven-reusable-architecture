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Registry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Proven Reusable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74320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Bank of Canada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Architecture — March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772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" cy="7772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353312"/>
            <a:ext cx="411480" cy="4114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2344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Reinventing the wheel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solve the same architectural problems independently, wasting months of effort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031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103120"/>
            <a:ext cx="54864" cy="7772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267712"/>
            <a:ext cx="411480" cy="4114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21488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shared knowledge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patterns exist in silos — no central place to find and reuse them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7772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54864" cy="7772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Shape 16"/>
          <p:cNvSpPr/>
          <p:nvPr/>
        </p:nvSpPr>
        <p:spPr>
          <a:xfrm>
            <a:off x="731520" y="3182112"/>
            <a:ext cx="411480" cy="4114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182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30632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practices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33832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shared standards, each team builds differently, increasing maintenance cost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31920"/>
            <a:ext cx="54864" cy="77724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4096512"/>
            <a:ext cx="411480" cy="411480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40965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397764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4297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pattern works (or fails), there's no structured way to share that experience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 — Executive Overview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Solution: PRA Registry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platform to catalog, share, and govern production-validated architectural patterns.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25603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1691640"/>
            <a:ext cx="640080" cy="64008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178308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Capitalize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patterns already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in production.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more reinventing.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1463040"/>
            <a:ext cx="2651760" cy="25603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46304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0"/>
          <p:cNvSpPr/>
          <p:nvPr/>
        </p:nvSpPr>
        <p:spPr>
          <a:xfrm>
            <a:off x="4251960" y="169164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8308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Accelerate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352044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right pattern 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weeks.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assist you.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17920" y="1463040"/>
            <a:ext cx="2651760" cy="256032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217920" y="1463040"/>
            <a:ext cx="265176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Shape 15"/>
          <p:cNvSpPr/>
          <p:nvPr/>
        </p:nvSpPr>
        <p:spPr>
          <a:xfrm>
            <a:off x="7132320" y="1691640"/>
            <a:ext cx="640080" cy="64008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78308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Standardize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6400800" y="28803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architecture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domains.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quality.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Text 19"/>
          <p:cNvSpPr/>
          <p:nvPr/>
        </p:nvSpPr>
        <p:spPr>
          <a:xfrm>
            <a:off x="91440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~200</a:t>
            </a:r>
            <a:endParaRPr lang="en-US" sz="2400" dirty="0"/>
          </a:p>
        </p:txBody>
      </p:sp>
      <p:sp>
        <p:nvSpPr>
          <p:cNvPr id="25" name="Text 20"/>
          <p:cNvSpPr/>
          <p:nvPr/>
        </p:nvSpPr>
        <p:spPr>
          <a:xfrm>
            <a:off x="91440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architects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292608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400" dirty="0"/>
          </a:p>
        </p:txBody>
      </p:sp>
      <p:sp>
        <p:nvSpPr>
          <p:cNvPr id="27" name="Text 22"/>
          <p:cNvSpPr/>
          <p:nvPr/>
        </p:nvSpPr>
        <p:spPr>
          <a:xfrm>
            <a:off x="292608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Archetypes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93776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29" name="Text 24"/>
          <p:cNvSpPr/>
          <p:nvPr/>
        </p:nvSpPr>
        <p:spPr>
          <a:xfrm>
            <a:off x="493776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30" name="Text 25"/>
          <p:cNvSpPr/>
          <p:nvPr/>
        </p:nvSpPr>
        <p:spPr>
          <a:xfrm>
            <a:off x="6949440" y="42062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31" name="Text 26"/>
          <p:cNvSpPr/>
          <p:nvPr/>
        </p:nvSpPr>
        <p:spPr>
          <a:xfrm>
            <a:off x="6949440" y="4617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channels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 — Executive Overview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645920"/>
            <a:ext cx="1463040" cy="1463040"/>
          </a:xfrm>
          <a:prstGeom prst="ellipse">
            <a:avLst/>
          </a:prstGeom>
          <a:solidFill>
            <a:srgbClr val="F5F5F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74320" y="21945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1737360" y="2286000"/>
            <a:ext cx="548640" cy="0"/>
          </a:xfrm>
          <a:prstGeom prst="line">
            <a:avLst/>
          </a:prstGeom>
          <a:noFill/>
          <a:ln w="25400">
            <a:solidFill>
              <a:srgbClr val="C8102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377440" y="1737360"/>
            <a:ext cx="1828800" cy="1097280"/>
          </a:xfrm>
          <a:prstGeom prst="rect">
            <a:avLst/>
          </a:prstGeom>
          <a:solidFill>
            <a:srgbClr val="C8102E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187452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34640" y="18288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246888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truth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206240" y="2286000"/>
            <a:ext cx="54864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846320" y="1737360"/>
            <a:ext cx="1463040" cy="109728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920240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182880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309360" y="2011680"/>
            <a:ext cx="731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309360" y="2560320"/>
            <a:ext cx="731520" cy="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7132320" y="1554480"/>
            <a:ext cx="1645920" cy="6400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7132320" y="1554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7132320" y="2377440"/>
            <a:ext cx="1645920" cy="64008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713232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3474720"/>
            <a:ext cx="8229600" cy="457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3" name="Shape 18"/>
          <p:cNvSpPr/>
          <p:nvPr/>
        </p:nvSpPr>
        <p:spPr>
          <a:xfrm>
            <a:off x="1371600" y="3657600"/>
            <a:ext cx="502920" cy="50292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4752" y="3730752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4008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Browse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54864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catalog by archetype,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status. Read factsheets.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251960" y="365760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3730752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52044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Agents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342900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Explorer recommends patterns.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Guide explains processes.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7132320" y="3657600"/>
            <a:ext cx="502920" cy="502920"/>
          </a:xfrm>
          <a:prstGeom prst="ellipse">
            <a:avLst/>
          </a:prstGeom>
          <a:solidFill>
            <a:srgbClr val="C8102E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5472" y="3730752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40080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Contribute</a:t>
            </a:r>
            <a:endParaRPr lang="en-US" sz="1400" dirty="0"/>
          </a:p>
        </p:txBody>
      </p:sp>
      <p:sp>
        <p:nvSpPr>
          <p:cNvPr id="34" name="Text 26"/>
          <p:cNvSpPr/>
          <p:nvPr/>
        </p:nvSpPr>
        <p:spPr>
          <a:xfrm>
            <a:off x="6309360" y="44805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pattern → Submit PR →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review → Auto-publish.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 — Executive Overview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Governance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the platform — automated reviewer assignment, formal review ceremonies, full traceability.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3716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1371600"/>
            <a:ext cx="1371600" cy="548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" y="1874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documents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(FR + EN)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54480" y="1965960"/>
            <a:ext cx="41148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65960" y="13716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965960" y="1371600"/>
            <a:ext cx="13716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2" name="Text 10"/>
          <p:cNvSpPr/>
          <p:nvPr/>
        </p:nvSpPr>
        <p:spPr>
          <a:xfrm>
            <a:off x="201168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011680" y="1874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CODEOWNERS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337560" y="1965960"/>
            <a:ext cx="41148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749040" y="13716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49040" y="1371600"/>
            <a:ext cx="13716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379476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794760" y="1874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1965960"/>
            <a:ext cx="41148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32120" y="13716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1371600"/>
            <a:ext cx="13716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77840" y="1874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03720" y="1965960"/>
            <a:ext cx="411480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0" y="1371600"/>
            <a:ext cx="1371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315200" y="1371600"/>
            <a:ext cx="13716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7360920" y="15087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60920" y="18745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Auto-deploy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+ Confluence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2926080"/>
            <a:ext cx="7955280" cy="4572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32004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200400"/>
            <a:ext cx="265176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Transversal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1148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Architects Committee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cross-domain experts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proven-in-use required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0" y="32004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20040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333756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Domain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333756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Committee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architects per domain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proven-in-use sufficient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2004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26480" y="3200400"/>
            <a:ext cx="265176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626364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Core Team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263640" y="37033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maintenance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agents, templates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via GitHub Issues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 — Executive Overview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Current State — Ready for Deployment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56616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411480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Delivered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Central GitHub repository with AsciiDoc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0848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 AI agents (PRA Explorer + PRA Guide)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4323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Demo PRAs covering all 7 archetypes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7797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GitHub Pages with BNC corporate design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312724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Confluence auto-publishing (FR + EN)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474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CI/CD pipelines (auto-deploy on merge)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8221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PlantUML diagram support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1696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bilingual (French + English)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54880" y="1188720"/>
            <a:ext cx="4114800" cy="35661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1188720"/>
            <a:ext cx="41148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10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Next Steps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937760" y="1755648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755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49240" y="17190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in BNC environment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19385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Enterprise + Confluence DC 9.2.9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937760" y="2258568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2585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49240" y="22219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governance committees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244144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roles, ceremony schedule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2761488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349240" y="2724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CODEOWNERS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29443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reviewer assignment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937760" y="3264408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32644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349240" y="32278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AI agents with architects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344728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validation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3767328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5" name="Text 33"/>
          <p:cNvSpPr/>
          <p:nvPr/>
        </p:nvSpPr>
        <p:spPr>
          <a:xfrm>
            <a:off x="493776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349240" y="37307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Populate with real PRAs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49240" y="395020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demo content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937760" y="4270248"/>
            <a:ext cx="256032" cy="256032"/>
          </a:xfrm>
          <a:prstGeom prst="ellipse">
            <a:avLst/>
          </a:prstGeom>
          <a:solidFill>
            <a:srgbClr val="C8102E"/>
          </a:solidFill>
          <a:ln/>
        </p:spPr>
      </p:sp>
      <p:sp>
        <p:nvSpPr>
          <p:cNvPr id="39" name="Text 37"/>
          <p:cNvSpPr/>
          <p:nvPr/>
        </p:nvSpPr>
        <p:spPr>
          <a:xfrm>
            <a:off x="4937760" y="4270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349240" y="4233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first contributors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49240" y="445312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and documentation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 — National Bank of Canada — Executive Overview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C81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Registry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Capitalize on proven architectures.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Accelerate delivery. Standardize practices.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~200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architects served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93192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3 min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93192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publish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92240" y="3383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922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automated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Appendix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2743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Detailed slides for reference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474720" y="1097280"/>
            <a:ext cx="219456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Registry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2011680" cy="457200"/>
          </a:xfrm>
          <a:prstGeom prst="rect">
            <a:avLst/>
          </a:prstGeom>
          <a:solidFill>
            <a:srgbClr val="16A34A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3152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920240"/>
            <a:ext cx="2011680" cy="457200"/>
          </a:xfrm>
          <a:prstGeom prst="rect">
            <a:avLst/>
          </a:prstGeom>
          <a:solidFill>
            <a:srgbClr val="2563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Domain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840480" y="1554480"/>
            <a:ext cx="-210312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1554480"/>
            <a:ext cx="2103120" cy="36576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651760"/>
            <a:ext cx="1645920" cy="25603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6517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62656"/>
            <a:ext cx="1645920" cy="25603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626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1645920" cy="25603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73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3584448"/>
            <a:ext cx="1645920" cy="25603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844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95344"/>
            <a:ext cx="1645920" cy="25603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953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1645920" cy="25603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2062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517136"/>
            <a:ext cx="1645920" cy="256032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51713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0" y="2651760"/>
            <a:ext cx="18288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6217920" y="26517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Particuliers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017520"/>
            <a:ext cx="18288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6217920" y="30175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Entreprises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3383280"/>
            <a:ext cx="18288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3832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Mgmt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17920" y="3749040"/>
            <a:ext cx="18288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3" name="Text 31"/>
          <p:cNvSpPr/>
          <p:nvPr/>
        </p:nvSpPr>
        <p:spPr>
          <a:xfrm>
            <a:off x="6217920" y="37490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17920" y="4114800"/>
            <a:ext cx="1828800" cy="29260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41148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Content Structure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 Template Anatomy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4023360" cy="33832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(.adoc header)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:pra-name: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377440" y="1828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 Gateway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:pra-archetype: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377440" y="21031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integration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:pra-status: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377440" y="2377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operationalizing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:pra-scope: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377440" y="26517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by-domain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:pra-origin: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377440" y="29260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particuliers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:pra-tags: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377440" y="32004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api, gateway, kong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:pra-version: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377440" y="34747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1.0.0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:pra-proven-count: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37744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:pra-author: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377440" y="4023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 Tremblay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:pra-created: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377440" y="4297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2025-12-03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5488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Sections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754880" y="1874520"/>
            <a:ext cx="54864" cy="292608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87452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1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sheet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00800" y="1874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metadata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2221992"/>
            <a:ext cx="54864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222199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0" y="22219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PRA exists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569464"/>
            <a:ext cx="54864" cy="29260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4" name="Text 32"/>
          <p:cNvSpPr/>
          <p:nvPr/>
        </p:nvSpPr>
        <p:spPr>
          <a:xfrm>
            <a:off x="4937760" y="256946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0" y="25694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/ not to use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54880" y="2916936"/>
            <a:ext cx="54864" cy="29260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4937760" y="291693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00800" y="29169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PlantUML + tech stack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54880" y="3264408"/>
            <a:ext cx="54864" cy="29260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326440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6400800" y="3264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options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754880" y="3611880"/>
            <a:ext cx="54864" cy="29260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36118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0" y="36118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code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754880" y="3959352"/>
            <a:ext cx="54864" cy="2926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6" name="Text 44"/>
          <p:cNvSpPr/>
          <p:nvPr/>
        </p:nvSpPr>
        <p:spPr>
          <a:xfrm>
            <a:off x="4937760" y="39593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400800" y="395935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Proven-in-use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4306824"/>
            <a:ext cx="54864" cy="29260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49" name="Text 47"/>
          <p:cNvSpPr/>
          <p:nvPr/>
        </p:nvSpPr>
        <p:spPr>
          <a:xfrm>
            <a:off x="4937760" y="43068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400800" y="430682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risks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754880" y="4654296"/>
            <a:ext cx="54864" cy="292608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52" name="Text 50"/>
          <p:cNvSpPr/>
          <p:nvPr/>
        </p:nvSpPr>
        <p:spPr>
          <a:xfrm>
            <a:off x="4937760" y="4654296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6400800" y="46542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links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PRA Template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 Structure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371600"/>
            <a:ext cx="5029200" cy="35661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proven-reusable-architecture/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548640" y="170078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content/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193852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pras/fr/transversale/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pras/fr/par-domaine/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24140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pras/en/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guides/ (FR + EN)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88950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templates/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312724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.github/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36499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agents/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360273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workflows/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840480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CODEOWNERS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407822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build/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315968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55371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pra-registry.config.yml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0" y="1463040"/>
            <a:ext cx="3108960" cy="100584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69280" y="1463040"/>
            <a:ext cx="54864" cy="1005840"/>
          </a:xfrm>
          <a:prstGeom prst="rect">
            <a:avLst/>
          </a:prstGeom>
          <a:solidFill>
            <a:srgbClr val="93C5FD"/>
          </a:solidFill>
          <a:ln/>
        </p:spPr>
      </p:sp>
      <p:sp>
        <p:nvSpPr>
          <p:cNvPr id="21" name="Text 19"/>
          <p:cNvSpPr/>
          <p:nvPr/>
        </p:nvSpPr>
        <p:spPr>
          <a:xfrm>
            <a:off x="585216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Architects Zone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852160" y="17830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 only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FR + EN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669280" y="2651760"/>
            <a:ext cx="3108960" cy="100584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0" y="2651760"/>
            <a:ext cx="54864" cy="1005840"/>
          </a:xfrm>
          <a:prstGeom prst="rect">
            <a:avLst/>
          </a:prstGeom>
          <a:solidFill>
            <a:srgbClr val="C4B5FD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2697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 Zone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852160" y="2971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CI/CD, AI agents, guides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Templates, CODEOWNERS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669280" y="3840480"/>
            <a:ext cx="3108960" cy="100584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669280" y="3840480"/>
            <a:ext cx="54864" cy="100584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9" name="Text 27"/>
          <p:cNvSpPr/>
          <p:nvPr/>
        </p:nvSpPr>
        <p:spPr>
          <a:xfrm>
            <a:off x="58521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Config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852160" y="4160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agents &amp; scripts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Repository Structure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Lifecycle and Promotion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011680" cy="164592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37160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Governance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ceremony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201168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188720"/>
            <a:ext cx="2011680" cy="1645920"/>
          </a:xfrm>
          <a:prstGeom prst="rect">
            <a:avLst/>
          </a:prstGeom>
          <a:solidFill>
            <a:srgbClr val="EFF6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68880" y="1188720"/>
            <a:ext cx="201168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0" y="137160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56032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1+ proven-in-use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feedback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480560" y="201168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188720"/>
            <a:ext cx="2011680" cy="164592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1188720"/>
            <a:ext cx="2011680" cy="54864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0" name="Shape 18"/>
          <p:cNvSpPr/>
          <p:nvPr/>
        </p:nvSpPr>
        <p:spPr>
          <a:xfrm>
            <a:off x="5394960" y="137160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1" name="Text 19"/>
          <p:cNvSpPr/>
          <p:nvPr/>
        </p:nvSpPr>
        <p:spPr>
          <a:xfrm>
            <a:off x="53949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5488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Operationalized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maintenance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75120" y="2011680"/>
            <a:ext cx="4572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1188720"/>
            <a:ext cx="2011680" cy="1645920"/>
          </a:xfrm>
          <a:prstGeom prst="rect">
            <a:avLst/>
          </a:prstGeom>
          <a:solidFill>
            <a:srgbClr val="F5F5F5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0" y="1188720"/>
            <a:ext cx="2011680" cy="54864"/>
          </a:xfrm>
          <a:prstGeom prst="rect">
            <a:avLst/>
          </a:prstGeom>
          <a:solidFill>
            <a:srgbClr val="9CA3AF"/>
          </a:solidFill>
          <a:ln/>
        </p:spPr>
      </p:sp>
      <p:sp>
        <p:nvSpPr>
          <p:cNvPr id="27" name="Shape 25"/>
          <p:cNvSpPr/>
          <p:nvPr/>
        </p:nvSpPr>
        <p:spPr>
          <a:xfrm>
            <a:off x="7589520" y="1371600"/>
            <a:ext cx="457200" cy="457200"/>
          </a:xfrm>
          <a:prstGeom prst="ellipse">
            <a:avLst/>
          </a:prstGeom>
          <a:solidFill>
            <a:srgbClr val="9CA3AF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949440" y="19202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Deprecated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49440" y="2240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recommended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plan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3200400"/>
            <a:ext cx="8503920" cy="1371600"/>
          </a:xfrm>
          <a:prstGeom prst="rect">
            <a:avLst/>
          </a:prstGeom>
          <a:solidFill>
            <a:srgbClr val="F0FDF4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3200400"/>
            <a:ext cx="54864" cy="1371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2918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Promotion: By Domain → Transversal  (same process as initial contribution)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48640" y="3749040"/>
            <a:ext cx="17373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548640" y="3749040"/>
            <a:ext cx="173736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 proven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projects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0" y="4069080"/>
            <a:ext cx="36576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51760" y="3749040"/>
            <a:ext cx="17373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Shape 37"/>
          <p:cNvSpPr/>
          <p:nvPr/>
        </p:nvSpPr>
        <p:spPr>
          <a:xfrm>
            <a:off x="2651760" y="3749040"/>
            <a:ext cx="1737360" cy="4572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 PR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389120" y="4069080"/>
            <a:ext cx="36576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54880" y="3749040"/>
            <a:ext cx="17373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4754880" y="3749040"/>
            <a:ext cx="173736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484632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Committee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492240" y="4069080"/>
            <a:ext cx="365760" cy="0"/>
          </a:xfrm>
          <a:prstGeom prst="line">
            <a:avLst/>
          </a:prstGeom>
          <a:noFill/>
          <a:ln w="19050">
            <a:solidFill>
              <a:srgbClr val="E5E7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858000" y="3749040"/>
            <a:ext cx="173736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6858000" y="3749040"/>
            <a:ext cx="1737360" cy="457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8" name="Text 46"/>
          <p:cNvSpPr/>
          <p:nvPr/>
        </p:nvSpPr>
        <p:spPr>
          <a:xfrm>
            <a:off x="6949440" y="37947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→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— Lifecycle &amp; Promotion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 Registry — Executive Overview</dc:title>
  <dc:subject>PptxGenJS Presentation</dc:subject>
  <dc:creator>Amara Fofana</dc:creator>
  <cp:lastModifiedBy>Amara Fofana</cp:lastModifiedBy>
  <cp:revision>1</cp:revision>
  <dcterms:created xsi:type="dcterms:W3CDTF">2026-03-23T17:24:37Z</dcterms:created>
  <dcterms:modified xsi:type="dcterms:W3CDTF">2026-03-23T17:24:37Z</dcterms:modified>
</cp:coreProperties>
</file>