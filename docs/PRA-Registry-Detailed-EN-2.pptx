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Registry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Proven Reusable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78892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63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Overview &amp; Onboarding Guide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Bank of Canada — Enterprise Architecture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E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problem, the solution, and the big picture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749808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7498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9903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8930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Reinventing the wheel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002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solve the same architectural problems independently, wasting months of effort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30552"/>
            <a:ext cx="54864" cy="7498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95144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18541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knowledge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49631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patterns live in silos — no central place to find and reuse them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026664"/>
            <a:ext cx="8229600" cy="749808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26664"/>
            <a:ext cx="54864" cy="7498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91256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91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08152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practices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3924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shared standards, each team builds differently, raising maintenance cost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922776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22776"/>
            <a:ext cx="54864" cy="7498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087368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97764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288536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pattern works (or fails), there is no structured way to share that experience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PRA Registry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to catalog, share, and govern production-validated architecture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4688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60020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170078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Capitalize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patterns already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production.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reinventing.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371600"/>
            <a:ext cx="2651760" cy="24688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264" y="1700784"/>
            <a:ext cx="438912" cy="4389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52044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pattern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weeks.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assist you.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1371600"/>
            <a:ext cx="2651760" cy="24688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Shape 15"/>
          <p:cNvSpPr/>
          <p:nvPr/>
        </p:nvSpPr>
        <p:spPr>
          <a:xfrm>
            <a:off x="7178040" y="160020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1700784"/>
            <a:ext cx="438912" cy="4389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331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6400800" y="2743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architecture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teams &amp; domains.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quality.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19"/>
          <p:cNvSpPr/>
          <p:nvPr/>
        </p:nvSpPr>
        <p:spPr>
          <a:xfrm>
            <a:off x="914400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2300" dirty="0"/>
          </a:p>
        </p:txBody>
      </p:sp>
      <p:sp>
        <p:nvSpPr>
          <p:cNvPr id="25" name="Text 20"/>
          <p:cNvSpPr/>
          <p:nvPr/>
        </p:nvSpPr>
        <p:spPr>
          <a:xfrm>
            <a:off x="914400" y="4498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2926080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300" dirty="0"/>
          </a:p>
        </p:txBody>
      </p:sp>
      <p:sp>
        <p:nvSpPr>
          <p:cNvPr id="27" name="Text 22"/>
          <p:cNvSpPr/>
          <p:nvPr/>
        </p:nvSpPr>
        <p:spPr>
          <a:xfrm>
            <a:off x="2926080" y="4498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937760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300" dirty="0"/>
          </a:p>
        </p:txBody>
      </p:sp>
      <p:sp>
        <p:nvSpPr>
          <p:cNvPr id="29" name="Text 24"/>
          <p:cNvSpPr/>
          <p:nvPr/>
        </p:nvSpPr>
        <p:spPr>
          <a:xfrm>
            <a:off x="4937760" y="4498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AI Agents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949440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300" dirty="0"/>
          </a:p>
        </p:txBody>
      </p:sp>
      <p:sp>
        <p:nvSpPr>
          <p:cNvPr id="31" name="Text 26"/>
          <p:cNvSpPr/>
          <p:nvPr/>
        </p:nvSpPr>
        <p:spPr>
          <a:xfrm>
            <a:off x="6949440" y="4498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channels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Categories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PRA belongs to one category — the entry point that helps architects find the right pattern.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15544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60934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1517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07008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systems communicate?"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48640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· MFT · Events · Messaging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651760" cy="15544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80160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Shape 11"/>
          <p:cNvSpPr/>
          <p:nvPr/>
        </p:nvSpPr>
        <p:spPr>
          <a:xfrm>
            <a:off x="3383280" y="150876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60934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41648" y="1517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041648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apps are built?"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383280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· BFF · Microservices · DDD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035040" y="1280160"/>
            <a:ext cx="2651760" cy="155448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1280160"/>
            <a:ext cx="26517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Shape 17"/>
          <p:cNvSpPr/>
          <p:nvPr/>
        </p:nvSpPr>
        <p:spPr>
          <a:xfrm>
            <a:off x="6217920" y="150876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1609344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876288" y="15179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876288" y="18470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data is managed?"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217920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Mesh · Lakehouse · MDM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65760" y="2971800"/>
            <a:ext cx="2651760" cy="15544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365760" y="2971800"/>
            <a:ext cx="265176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Shape 23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300984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207008" y="3209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207008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systems are secured?"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54864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MFA · Zero Trust · IDP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200400" y="2971800"/>
            <a:ext cx="2651760" cy="1554480"/>
          </a:xfrm>
          <a:prstGeom prst="rect">
            <a:avLst/>
          </a:prstGeom>
          <a:solidFill>
            <a:srgbClr val="ECFE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200400" y="2971800"/>
            <a:ext cx="2651760" cy="640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5" name="Shape 29"/>
          <p:cNvSpPr/>
          <p:nvPr/>
        </p:nvSpPr>
        <p:spPr>
          <a:xfrm>
            <a:off x="3383280" y="3200400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3300984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041648" y="3209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Engineering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041648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it's deployed &amp; operated?"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338328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· IaC · Observability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035040" y="2971800"/>
            <a:ext cx="2651760" cy="155448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035040" y="2971800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35"/>
          <p:cNvSpPr/>
          <p:nvPr/>
        </p:nvSpPr>
        <p:spPr>
          <a:xfrm>
            <a:off x="6217920" y="320040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504" y="3300984"/>
            <a:ext cx="365760" cy="36576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876288" y="32095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876288" y="35387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processes are standardized?"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621792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· KYC · Payments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Agents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agents assist architects throughout the PRA lifecycle — directly inside VS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651760" cy="32918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26517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1508760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Explorer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the catalog and recommends relevant PRAs for your architecture use case.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2286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" y="396849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to integrate Salesforce — what proven patterns exist?"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1280160"/>
            <a:ext cx="2651760" cy="32918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0" y="128016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Shape 13"/>
          <p:cNvSpPr/>
          <p:nvPr/>
        </p:nvSpPr>
        <p:spPr>
          <a:xfrm>
            <a:off x="4160520" y="15087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4592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9184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Guide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329184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29000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you understand PRAs and fill the templates correctly when authoring a new one.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383280" y="3931920"/>
            <a:ext cx="2286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3456432" y="396849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document my pattern? Which sections matter?"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035040" y="1280160"/>
            <a:ext cx="2651760" cy="3291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035040" y="1280160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1"/>
          <p:cNvSpPr/>
          <p:nvPr/>
        </p:nvSpPr>
        <p:spPr>
          <a:xfrm>
            <a:off x="6995160" y="15087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2648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Extractor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612648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6263640" y="2971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existing patterns from Confluence or GitHub repos as PRA candidates.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6217920" y="3931920"/>
            <a:ext cx="22860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6"/>
          <p:cNvSpPr/>
          <p:nvPr/>
        </p:nvSpPr>
        <p:spPr>
          <a:xfrm>
            <a:off x="6291072" y="3968496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"Turn this existing Confluence doc into a PRA draft."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The 3 agents run in VS Code and integrate into the AI Assistant Architect Suite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is the single source of truth. Architects and AI agents consult, contribute, and accelerate delivery.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88920" y="1325880"/>
            <a:ext cx="3566160" cy="2240280"/>
          </a:xfrm>
          <a:prstGeom prst="rect">
            <a:avLst/>
          </a:prstGeom>
          <a:solidFill>
            <a:srgbClr val="FDF3F4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1417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REGISTRY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07792" y="1783080"/>
            <a:ext cx="10241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783080"/>
            <a:ext cx="45720" cy="6035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962656" y="1783080"/>
            <a:ext cx="950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23360" y="1783080"/>
            <a:ext cx="10241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1783080"/>
            <a:ext cx="45720" cy="60350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4078224" y="1783080"/>
            <a:ext cx="950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138928" y="1783080"/>
            <a:ext cx="10241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1783080"/>
            <a:ext cx="45720" cy="6035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5193792" y="1783080"/>
            <a:ext cx="950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07792" y="2496312"/>
            <a:ext cx="10241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07792" y="2496312"/>
            <a:ext cx="45720" cy="60350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2962656" y="2496312"/>
            <a:ext cx="950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23360" y="2496312"/>
            <a:ext cx="10241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2496312"/>
            <a:ext cx="45720" cy="6035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078224" y="2496312"/>
            <a:ext cx="950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38928" y="2496312"/>
            <a:ext cx="102412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38928" y="2496312"/>
            <a:ext cx="45720" cy="60350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5193792" y="2496312"/>
            <a:ext cx="9509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1280160"/>
            <a:ext cx="1783080" cy="566928"/>
          </a:xfrm>
          <a:prstGeom prst="rect">
            <a:avLst/>
          </a:prstGeom>
          <a:solidFill>
            <a:srgbClr val="C8102E"/>
          </a:solidFill>
          <a:ln w="12700">
            <a:solidFill>
              <a:srgbClr val="C9CED6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365760" y="128016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AI Agent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20040" y="1627632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6D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 AI]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502920" y="228600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EEF0F3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046988" y="2377440"/>
            <a:ext cx="329184" cy="329184"/>
          </a:xfrm>
          <a:prstGeom prst="ellipse">
            <a:avLst/>
          </a:prstGeom>
          <a:solidFill>
            <a:srgbClr val="9AA0AA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26974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48640" y="27889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[Person]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20040" y="3429000"/>
            <a:ext cx="17830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342900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Architect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02920" y="4206240"/>
            <a:ext cx="1417320" cy="457200"/>
          </a:xfrm>
          <a:prstGeom prst="rect">
            <a:avLst/>
          </a:prstGeom>
          <a:solidFill>
            <a:srgbClr val="EEF0F3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4206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554480"/>
            <a:ext cx="685800" cy="13716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  <a:headEnd type="none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2057400" y="1280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&amp;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PRAs</a:t>
            </a:r>
            <a:endParaRPr lang="en-US" sz="650" dirty="0"/>
          </a:p>
        </p:txBody>
      </p:sp>
      <p:sp>
        <p:nvSpPr>
          <p:cNvPr id="39" name="Shape 36"/>
          <p:cNvSpPr/>
          <p:nvPr/>
        </p:nvSpPr>
        <p:spPr>
          <a:xfrm>
            <a:off x="1234440" y="1847088"/>
            <a:ext cx="914" cy="4389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40" name="Text 37"/>
          <p:cNvSpPr/>
          <p:nvPr/>
        </p:nvSpPr>
        <p:spPr>
          <a:xfrm>
            <a:off x="45720" y="1938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agents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 flipV="1">
            <a:off x="1920240" y="2423160"/>
            <a:ext cx="868680" cy="18288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42" name="Text 39"/>
          <p:cNvSpPr/>
          <p:nvPr/>
        </p:nvSpPr>
        <p:spPr>
          <a:xfrm>
            <a:off x="1993392" y="21945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PRA</a:t>
            </a:r>
            <a:endParaRPr lang="en-US" sz="650" dirty="0"/>
          </a:p>
        </p:txBody>
      </p:sp>
      <p:sp>
        <p:nvSpPr>
          <p:cNvPr id="43" name="Shape 40"/>
          <p:cNvSpPr/>
          <p:nvPr/>
        </p:nvSpPr>
        <p:spPr>
          <a:xfrm>
            <a:off x="1234440" y="3063240"/>
            <a:ext cx="914" cy="36576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1298448" y="313639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architecture</a:t>
            </a:r>
            <a:endParaRPr lang="en-US" sz="600" dirty="0"/>
          </a:p>
        </p:txBody>
      </p:sp>
      <p:sp>
        <p:nvSpPr>
          <p:cNvPr id="45" name="Shape 42"/>
          <p:cNvSpPr/>
          <p:nvPr/>
        </p:nvSpPr>
        <p:spPr>
          <a:xfrm flipV="1">
            <a:off x="2103120" y="3108960"/>
            <a:ext cx="685800" cy="50292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6" name="Text 43"/>
          <p:cNvSpPr/>
          <p:nvPr/>
        </p:nvSpPr>
        <p:spPr>
          <a:xfrm>
            <a:off x="2194560" y="29992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PRA</a:t>
            </a:r>
            <a:endParaRPr lang="en-US" sz="650" dirty="0"/>
          </a:p>
        </p:txBody>
      </p:sp>
      <p:sp>
        <p:nvSpPr>
          <p:cNvPr id="47" name="Shape 44"/>
          <p:cNvSpPr/>
          <p:nvPr/>
        </p:nvSpPr>
        <p:spPr>
          <a:xfrm>
            <a:off x="1463040" y="3995928"/>
            <a:ext cx="914" cy="21031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48" name="Shape 45"/>
          <p:cNvSpPr/>
          <p:nvPr/>
        </p:nvSpPr>
        <p:spPr>
          <a:xfrm>
            <a:off x="6629400" y="1325880"/>
            <a:ext cx="2194560" cy="2331720"/>
          </a:xfrm>
          <a:prstGeom prst="rect">
            <a:avLst/>
          </a:prstGeom>
          <a:solidFill>
            <a:srgbClr val="FFF9F9"/>
          </a:solidFill>
          <a:ln w="19050">
            <a:solidFill>
              <a:srgbClr val="C8102E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1417320"/>
            <a:ext cx="201168" cy="201168"/>
          </a:xfrm>
          <a:prstGeom prst="rect">
            <a:avLst/>
          </a:prstGeom>
        </p:spPr>
      </p:pic>
      <p:sp>
        <p:nvSpPr>
          <p:cNvPr id="50" name="Text 46"/>
          <p:cNvSpPr/>
          <p:nvPr/>
        </p:nvSpPr>
        <p:spPr>
          <a:xfrm>
            <a:off x="690372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Content</a:t>
            </a:r>
            <a:endParaRPr lang="en-US" sz="1200" dirty="0"/>
          </a:p>
        </p:txBody>
      </p:sp>
      <p:sp>
        <p:nvSpPr>
          <p:cNvPr id="51" name="Text 47"/>
          <p:cNvSpPr/>
          <p:nvPr/>
        </p:nvSpPr>
        <p:spPr>
          <a:xfrm>
            <a:off x="6766560" y="1737360"/>
            <a:ext cx="1965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Metadata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Summary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Context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Architecture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ADR
</a:t>
            </a:r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Implementation Recipes (Chronos)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Feedback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Limitations
</a:t>
            </a:r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References</a:t>
            </a:r>
            <a:endParaRPr lang="en-US" sz="900" dirty="0"/>
          </a:p>
        </p:txBody>
      </p:sp>
      <p:sp>
        <p:nvSpPr>
          <p:cNvPr id="52" name="Shape 48"/>
          <p:cNvSpPr/>
          <p:nvPr/>
        </p:nvSpPr>
        <p:spPr>
          <a:xfrm>
            <a:off x="6355080" y="2377440"/>
            <a:ext cx="274320" cy="914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53" name="Shape 49"/>
          <p:cNvSpPr/>
          <p:nvPr/>
        </p:nvSpPr>
        <p:spPr>
          <a:xfrm>
            <a:off x="6903720" y="4069080"/>
            <a:ext cx="1645920" cy="594360"/>
          </a:xfrm>
          <a:prstGeom prst="rect">
            <a:avLst/>
          </a:prstGeom>
          <a:solidFill>
            <a:srgbClr val="EEF0F3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949440" y="40690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Team</a:t>
            </a:r>
            <a:endParaRPr lang="en-US" sz="1000" dirty="0"/>
          </a:p>
        </p:txBody>
      </p:sp>
      <p:sp>
        <p:nvSpPr>
          <p:cNvPr id="55" name="Text 51"/>
          <p:cNvSpPr/>
          <p:nvPr/>
        </p:nvSpPr>
        <p:spPr>
          <a:xfrm>
            <a:off x="6903720" y="44622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[Person]</a:t>
            </a:r>
            <a:endParaRPr lang="en-US" sz="700" dirty="0"/>
          </a:p>
        </p:txBody>
      </p:sp>
      <p:sp>
        <p:nvSpPr>
          <p:cNvPr id="56" name="Shape 52"/>
          <p:cNvSpPr/>
          <p:nvPr/>
        </p:nvSpPr>
        <p:spPr>
          <a:xfrm>
            <a:off x="7726680" y="3657600"/>
            <a:ext cx="914" cy="41148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57" name="Text 53"/>
          <p:cNvSpPr/>
          <p:nvPr/>
        </p:nvSpPr>
        <p:spPr>
          <a:xfrm>
            <a:off x="7772400" y="3703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delivery</a:t>
            </a:r>
            <a:endParaRPr lang="en-US" sz="600" dirty="0"/>
          </a:p>
          <a:p>
            <a:pPr algn="l" indent="0" marL="0">
              <a:buNone/>
            </a:pPr>
            <a:r>
              <a:rPr lang="en-US" sz="6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recipes</a:t>
            </a:r>
            <a:endParaRPr lang="en-US" sz="600" dirty="0"/>
          </a:p>
        </p:txBody>
      </p:sp>
      <p:sp>
        <p:nvSpPr>
          <p:cNvPr id="58" name="Shape 54"/>
          <p:cNvSpPr/>
          <p:nvPr/>
        </p:nvSpPr>
        <p:spPr>
          <a:xfrm>
            <a:off x="3886200" y="4114800"/>
            <a:ext cx="137160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CED6"/>
            </a:solidFill>
            <a:prstDash val="solid"/>
          </a:ln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4224528"/>
            <a:ext cx="219456" cy="219456"/>
          </a:xfrm>
          <a:prstGeom prst="rect">
            <a:avLst/>
          </a:prstGeom>
        </p:spPr>
      </p:pic>
      <p:sp>
        <p:nvSpPr>
          <p:cNvPr id="60" name="Text 55"/>
          <p:cNvSpPr/>
          <p:nvPr/>
        </p:nvSpPr>
        <p:spPr>
          <a:xfrm>
            <a:off x="3931920" y="4114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61" name="Text 56"/>
          <p:cNvSpPr/>
          <p:nvPr/>
        </p:nvSpPr>
        <p:spPr>
          <a:xfrm>
            <a:off x="3886200" y="446227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 flipV="1">
            <a:off x="4572000" y="3566160"/>
            <a:ext cx="914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63" name="Text 58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How It Works Overview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Structure —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 types feed the registry. Inside each, PRAs are organized by category.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1828800" cy="4114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0" y="1188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310896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874520"/>
            <a:ext cx="310896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874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Domain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H="1">
            <a:off x="2468880" y="1600200"/>
            <a:ext cx="1737360" cy="2743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937760" y="1600200"/>
            <a:ext cx="1737360" cy="2743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2331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transversal teams — consumed bank-wide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solidFill>
            <a:srgbClr val="F0FDF4"/>
          </a:solidFill>
          <a:ln w="9525">
            <a:solidFill>
              <a:srgbClr val="BBE5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 Team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2935224"/>
            <a:ext cx="3108960" cy="274320"/>
          </a:xfrm>
          <a:prstGeom prst="rect">
            <a:avLst/>
          </a:prstGeom>
          <a:solidFill>
            <a:srgbClr val="F0FDF4"/>
          </a:solidFill>
          <a:ln w="9525">
            <a:solidFill>
              <a:srgbClr val="BBE5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35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 (Kafka)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3264408"/>
            <a:ext cx="3108960" cy="274320"/>
          </a:xfrm>
          <a:prstGeom prst="rect">
            <a:avLst/>
          </a:prstGeom>
          <a:solidFill>
            <a:srgbClr val="F0FDF4"/>
          </a:solidFill>
          <a:ln w="9525">
            <a:solidFill>
              <a:srgbClr val="BBE5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64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3593592"/>
            <a:ext cx="3108960" cy="274320"/>
          </a:xfrm>
          <a:prstGeom prst="rect">
            <a:avLst/>
          </a:prstGeom>
          <a:solidFill>
            <a:srgbClr val="F0FDF4"/>
          </a:solidFill>
          <a:ln w="9525">
            <a:solidFill>
              <a:srgbClr val="BBE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14400" y="3922776"/>
            <a:ext cx="3108960" cy="274320"/>
          </a:xfrm>
          <a:prstGeom prst="rect">
            <a:avLst/>
          </a:prstGeom>
          <a:solidFill>
            <a:srgbClr val="F0FDF4"/>
          </a:solidFill>
          <a:ln w="9525">
            <a:solidFill>
              <a:srgbClr val="BBE5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922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Transformation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4251960"/>
            <a:ext cx="3108960" cy="274320"/>
          </a:xfrm>
          <a:prstGeom prst="rect">
            <a:avLst/>
          </a:prstGeom>
          <a:solidFill>
            <a:srgbClr val="F0FDF4"/>
          </a:solidFill>
          <a:ln w="9525">
            <a:solidFill>
              <a:srgbClr val="BBE5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20640" y="2331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domain teams — scoped to the domain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20640" y="2606040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BCD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6060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120640" y="2935224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BCD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9352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3264408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BCD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3264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0640" y="3593592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BCD3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593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120640" y="3922776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BCD3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92277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120640" y="4251960"/>
            <a:ext cx="3108960" cy="274320"/>
          </a:xfrm>
          <a:prstGeom prst="rect">
            <a:avLst/>
          </a:prstGeom>
          <a:solidFill>
            <a:srgbClr val="EFF6FF"/>
          </a:solidFill>
          <a:ln w="9525">
            <a:solidFill>
              <a:srgbClr val="BCD3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572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each team/domain, PRAs are grouped by category:  </a:t>
            </a:r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transversale/kafka/integration/…   ·   par-domaine/wealth-management/business/…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Content Structure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Governance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— governance mirrors the content structure. A Core Team ensures coherence.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77640" y="1143000"/>
            <a:ext cx="1188720" cy="411480"/>
          </a:xfrm>
          <a:prstGeom prst="rect">
            <a:avLst/>
          </a:prstGeom>
          <a:solidFill>
            <a:srgbClr val="1A1A1A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0" y="1143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0" y="1828800"/>
            <a:ext cx="1554480" cy="384048"/>
          </a:xfrm>
          <a:prstGeom prst="rect">
            <a:avLst/>
          </a:prstGeom>
          <a:solidFill>
            <a:srgbClr val="166534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828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Teams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1828800"/>
            <a:ext cx="1554480" cy="384048"/>
          </a:xfrm>
          <a:prstGeom prst="rect">
            <a:avLst/>
          </a:prstGeom>
          <a:solidFill>
            <a:srgbClr val="1E40AF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1828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Teams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2788920" y="1554480"/>
            <a:ext cx="1508760" cy="2743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46320" y="1554480"/>
            <a:ext cx="1508760" cy="27432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2514600"/>
            <a:ext cx="1051560" cy="36576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14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" y="289864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986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600200" y="2514600"/>
            <a:ext cx="1051560" cy="36576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2514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783080" y="289864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83080" y="28986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0" y="2514600"/>
            <a:ext cx="1051560" cy="36576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2514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Soft. Eng.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26080" y="289864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8986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1051560" cy="36576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832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" y="376732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67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600200" y="3383280"/>
            <a:ext cx="1051560" cy="36576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33832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783080" y="376732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83080" y="3767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0" y="3383280"/>
            <a:ext cx="1051560" cy="365760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3832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26080" y="376732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3767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788920" y="2020824"/>
            <a:ext cx="914" cy="310896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none"/>
          </a:ln>
        </p:spPr>
      </p:sp>
      <p:sp>
        <p:nvSpPr>
          <p:cNvPr id="38" name="Shape 36"/>
          <p:cNvSpPr/>
          <p:nvPr/>
        </p:nvSpPr>
        <p:spPr>
          <a:xfrm>
            <a:off x="2788920" y="2212848"/>
            <a:ext cx="914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440680" y="2514600"/>
            <a:ext cx="1234440" cy="36576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715000" y="289864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8986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766560" y="2514600"/>
            <a:ext cx="1234440" cy="36576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6656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040880" y="289864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40880" y="28986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440680" y="3383280"/>
            <a:ext cx="1234440" cy="36576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40680" y="3383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715000" y="376732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15000" y="3767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766560" y="3383280"/>
            <a:ext cx="1234440" cy="365760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66560" y="33832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7040880" y="3767328"/>
            <a:ext cx="68580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3767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355080" y="2212848"/>
            <a:ext cx="914" cy="16459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3108960" y="4160520"/>
            <a:ext cx="2926080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9CED6"/>
            </a:solidFill>
            <a:prstDash val="solid"/>
          </a:ln>
        </p:spPr>
      </p:sp>
      <p:pic>
        <p:nvPicPr>
          <p:cNvPr id="5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4315968"/>
            <a:ext cx="237744" cy="237744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3154680" y="41605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Core Team — PRA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3108960" y="46817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cross-team coherence of the framework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2286000" y="4023360"/>
            <a:ext cx="822960" cy="32004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  <a:headEnd type="none"/>
            <a:tailEnd type="triangle"/>
          </a:ln>
        </p:spPr>
      </p:sp>
      <p:sp>
        <p:nvSpPr>
          <p:cNvPr id="61" name="Shape 58"/>
          <p:cNvSpPr/>
          <p:nvPr/>
        </p:nvSpPr>
        <p:spPr>
          <a:xfrm flipH="1">
            <a:off x="6035040" y="4023360"/>
            <a:ext cx="365760" cy="320040"/>
          </a:xfrm>
          <a:prstGeom prst="line">
            <a:avLst/>
          </a:prstGeom>
          <a:noFill/>
          <a:ln w="12700">
            <a:solidFill>
              <a:srgbClr val="C8102E"/>
            </a:solidFill>
            <a:prstDash val="dash"/>
            <a:headEnd type="none"/>
            <a:tailEnd type="triangle"/>
          </a:ln>
        </p:spPr>
      </p:sp>
      <p:sp>
        <p:nvSpPr>
          <p:cNvPr id="62" name="Text 59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The Governance Model (decentralized)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E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Consultation, architecture production, contribution &amp; governance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Consultation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consult proven patterns through Confluence, GitHub Pages, or the PRA Explorer in VS Code.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7373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73736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377440"/>
            <a:ext cx="1463040" cy="868680"/>
          </a:xfrm>
          <a:prstGeom prst="roundRect">
            <a:avLst>
              <a:gd name="adj" fmla="val 10526"/>
            </a:avLst>
          </a:prstGeom>
          <a:solidFill>
            <a:srgbClr val="EEF0F3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1288" y="2468880"/>
            <a:ext cx="329184" cy="329184"/>
          </a:xfrm>
          <a:prstGeom prst="ellipse">
            <a:avLst/>
          </a:prstGeom>
          <a:solidFill>
            <a:srgbClr val="9AA0A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788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 flipV="1">
            <a:off x="1325880" y="1828800"/>
            <a:ext cx="914" cy="54864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37160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325880" y="3246120"/>
            <a:ext cx="914" cy="68580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371600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7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2514600"/>
            <a:ext cx="822960" cy="8229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846320" y="2788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057400" y="2834640"/>
            <a:ext cx="1874520" cy="9144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0" name="Text 17"/>
          <p:cNvSpPr/>
          <p:nvPr/>
        </p:nvSpPr>
        <p:spPr>
          <a:xfrm>
            <a:off x="224028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using PRA Explorer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57600" y="1371600"/>
            <a:ext cx="1463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0332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PRA Repo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89120" y="1874520"/>
            <a:ext cx="914" cy="6400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520440" y="3749040"/>
            <a:ext cx="1737360" cy="86868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520440" y="3749040"/>
            <a:ext cx="173736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6" name="Text 23"/>
          <p:cNvSpPr/>
          <p:nvPr/>
        </p:nvSpPr>
        <p:spPr>
          <a:xfrm>
            <a:off x="356616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Explorer </a:t>
            </a:r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[Agent AI]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611880" y="4114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PRAs and suggests patterns for your architecture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4389120" y="3337560"/>
            <a:ext cx="914" cy="41148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858000" y="2514600"/>
            <a:ext cx="173736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C9CED6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2651760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903720" y="25146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 flipH="1" flipV="1">
            <a:off x="5120640" y="1691640"/>
            <a:ext cx="1737360" cy="118872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headEnd type="none"/>
            <a:tailEnd type="triangle"/>
          </a:ln>
        </p:spPr>
      </p:sp>
      <p:sp>
        <p:nvSpPr>
          <p:cNvPr id="33" name="Text 29"/>
          <p:cNvSpPr/>
          <p:nvPr/>
        </p:nvSpPr>
        <p:spPr>
          <a:xfrm>
            <a:off x="5394960" y="18288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repo</a:t>
            </a:r>
            <a:endParaRPr lang="en-US" sz="700" dirty="0"/>
          </a:p>
        </p:txBody>
      </p:sp>
      <p:sp>
        <p:nvSpPr>
          <p:cNvPr id="34" name="Text 30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Consultation flow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AI Assistant Architect Suite, an orchestrator coordinates expert agents — the PRA Explorer feeds proven patterns.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2542032"/>
            <a:ext cx="8823960" cy="2240280"/>
          </a:xfrm>
          <a:prstGeom prst="rect">
            <a:avLst/>
          </a:prstGeom>
          <a:solidFill>
            <a:srgbClr val="F6F7F9"/>
          </a:solidFill>
          <a:ln w="15875">
            <a:solidFill>
              <a:srgbClr val="9AA0AA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8404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Architect Assistant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EF0F3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1463040"/>
            <a:ext cx="329184" cy="329184"/>
          </a:xfrm>
          <a:prstGeom prst="ellipse">
            <a:avLst/>
          </a:prstGeom>
          <a:solidFill>
            <a:srgbClr val="9AA0A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[Person]</a:t>
            </a:r>
            <a:endParaRPr lang="en-US" sz="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325880"/>
            <a:ext cx="731520" cy="7315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40480" y="1572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 flipV="1">
            <a:off x="2011680" y="1737360"/>
            <a:ext cx="1005840" cy="457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040880" y="1280160"/>
            <a:ext cx="17373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4088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69480" y="1737360"/>
            <a:ext cx="1280160" cy="548640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1737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Repo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88920" y="2606040"/>
            <a:ext cx="1737360" cy="713232"/>
          </a:xfrm>
          <a:prstGeom prst="rect">
            <a:avLst/>
          </a:prstGeom>
          <a:solidFill>
            <a:srgbClr val="1A1A1A"/>
          </a:solidFill>
          <a:ln w="12700">
            <a:solidFill>
              <a:srgbClr val="C9CED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834640" y="2606040"/>
            <a:ext cx="1645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88920" y="3127248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9BE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 AI]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3520440" y="2057400"/>
            <a:ext cx="91440" cy="5486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11480" y="3840480"/>
            <a:ext cx="16002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C9CE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3931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" y="4315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 AI]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 flipH="1">
            <a:off x="1211580" y="3319272"/>
            <a:ext cx="2446020" cy="521208"/>
          </a:xfrm>
          <a:prstGeom prst="line">
            <a:avLst/>
          </a:prstGeom>
          <a:noFill/>
          <a:ln w="12700">
            <a:solidFill>
              <a:srgbClr val="8A909A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167128" y="3840480"/>
            <a:ext cx="16002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C9CE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2212848" y="3931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212848" y="4315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 AI]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 flipH="1">
            <a:off x="2967228" y="3319272"/>
            <a:ext cx="690372" cy="521208"/>
          </a:xfrm>
          <a:prstGeom prst="line">
            <a:avLst/>
          </a:prstGeom>
          <a:noFill/>
          <a:ln w="12700">
            <a:solidFill>
              <a:srgbClr val="8A909A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3922776" y="3840480"/>
            <a:ext cx="16002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C9CE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3968496" y="3931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968496" y="4315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 AI]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3657600" y="3319272"/>
            <a:ext cx="1065276" cy="521208"/>
          </a:xfrm>
          <a:prstGeom prst="line">
            <a:avLst/>
          </a:prstGeom>
          <a:noFill/>
          <a:ln w="12700">
            <a:solidFill>
              <a:srgbClr val="8A909A"/>
            </a:solidFill>
            <a:prstDash val="solid"/>
            <a:headEnd type="none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5678424" y="3840480"/>
            <a:ext cx="1600200" cy="868680"/>
          </a:xfrm>
          <a:prstGeom prst="rect">
            <a:avLst/>
          </a:prstGeom>
          <a:solidFill>
            <a:srgbClr val="F3F4F6"/>
          </a:solidFill>
          <a:ln w="12700">
            <a:solidFill>
              <a:srgbClr val="C9CED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724144" y="3931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…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724144" y="4315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 AI]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3657600" y="3319272"/>
            <a:ext cx="2820924" cy="521208"/>
          </a:xfrm>
          <a:prstGeom prst="line">
            <a:avLst/>
          </a:prstGeom>
          <a:noFill/>
          <a:ln w="12700">
            <a:solidFill>
              <a:srgbClr val="8A909A"/>
            </a:solidFill>
            <a:prstDash val="solid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434072" y="3840480"/>
            <a:ext cx="1600200" cy="86868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7434072" y="3840480"/>
            <a:ext cx="16002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0" name="Text 37"/>
          <p:cNvSpPr/>
          <p:nvPr/>
        </p:nvSpPr>
        <p:spPr>
          <a:xfrm>
            <a:off x="7479792" y="39319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Explorer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479792" y="431596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 AI]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7507224" y="446227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proven patterns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3657600" y="3319272"/>
            <a:ext cx="4576572" cy="521208"/>
          </a:xfrm>
          <a:prstGeom prst="line">
            <a:avLst/>
          </a:prstGeom>
          <a:noFill/>
          <a:ln w="12700">
            <a:solidFill>
              <a:srgbClr val="8A909A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7680960" y="2286000"/>
            <a:ext cx="914" cy="1554480"/>
          </a:xfrm>
          <a:prstGeom prst="line">
            <a:avLst/>
          </a:prstGeom>
          <a:noFill/>
          <a:ln w="15240">
            <a:solidFill>
              <a:srgbClr val="16A34A"/>
            </a:solidFill>
            <a:prstDash val="dash"/>
            <a:headEnd type="none"/>
            <a:tailEnd type="triangle"/>
          </a:ln>
        </p:spPr>
      </p:sp>
      <p:sp>
        <p:nvSpPr>
          <p:cNvPr id="45" name="Text 42"/>
          <p:cNvSpPr/>
          <p:nvPr/>
        </p:nvSpPr>
        <p:spPr>
          <a:xfrm>
            <a:off x="5760720" y="28803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PRA Repo to propose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patterns</a:t>
            </a:r>
            <a:endParaRPr lang="en-US" sz="700" dirty="0"/>
          </a:p>
        </p:txBody>
      </p:sp>
      <p:sp>
        <p:nvSpPr>
          <p:cNvPr id="46" name="Text 43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Architecture Production (AI Assistant Architect Suite)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 — Authoring &amp; Extraction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author PRAs in VS Code, assisted by PRA Guide and PRA Extractor. Merges publish to both channels.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EF0F3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240280"/>
            <a:ext cx="329184" cy="329184"/>
          </a:xfrm>
          <a:prstGeom prst="ellipse">
            <a:avLst/>
          </a:prstGeom>
          <a:solidFill>
            <a:srgbClr val="9AA0A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[Person]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148840"/>
            <a:ext cx="777240" cy="777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37560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 flipV="1">
            <a:off x="1828800" y="2542032"/>
            <a:ext cx="685800" cy="1828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94560" y="132588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4028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PRA Repo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 flipV="1">
            <a:off x="2926080" y="1828800"/>
            <a:ext cx="91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554480" y="3657600"/>
            <a:ext cx="18288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54480" y="36576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1600200" y="3749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Guide </a:t>
            </a:r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[Agent AI]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645920" y="40050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architect to understand PRAs and fill the templates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520440" y="3657600"/>
            <a:ext cx="187452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20440" y="365760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66160" y="3749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Extractor </a:t>
            </a:r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[Agent AI]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11880" y="40050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existing patterns from Confluence or GitHub repos as PRA candidates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 flipH="1">
            <a:off x="2468880" y="2926080"/>
            <a:ext cx="182880" cy="7315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200400" y="2926080"/>
            <a:ext cx="1005840" cy="7315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5669280" y="2103120"/>
            <a:ext cx="1554480" cy="822960"/>
          </a:xfrm>
          <a:prstGeom prst="rect">
            <a:avLst/>
          </a:prstGeom>
          <a:solidFill>
            <a:srgbClr val="1A1A1A"/>
          </a:solidFill>
          <a:ln w="12700">
            <a:solidFill>
              <a:srgbClr val="C9CED6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240280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715000" y="21031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611880" y="1572768"/>
            <a:ext cx="2057400" cy="80467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9" name="Text 25"/>
          <p:cNvSpPr/>
          <p:nvPr/>
        </p:nvSpPr>
        <p:spPr>
          <a:xfrm>
            <a:off x="420624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750" dirty="0"/>
          </a:p>
        </p:txBody>
      </p:sp>
      <p:sp>
        <p:nvSpPr>
          <p:cNvPr id="30" name="Shape 26"/>
          <p:cNvSpPr/>
          <p:nvPr/>
        </p:nvSpPr>
        <p:spPr>
          <a:xfrm>
            <a:off x="7406640" y="1371600"/>
            <a:ext cx="14630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452360" y="1371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406640" y="3154680"/>
            <a:ext cx="146304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452360" y="3154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 flipV="1">
            <a:off x="7223760" y="1691640"/>
            <a:ext cx="182880" cy="64008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5" name="Shape 31"/>
          <p:cNvSpPr/>
          <p:nvPr/>
        </p:nvSpPr>
        <p:spPr>
          <a:xfrm>
            <a:off x="7223760" y="2697480"/>
            <a:ext cx="182880" cy="68580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6" name="Text 32"/>
          <p:cNvSpPr/>
          <p:nvPr/>
        </p:nvSpPr>
        <p:spPr>
          <a:xfrm>
            <a:off x="68580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700" dirty="0"/>
          </a:p>
        </p:txBody>
      </p:sp>
      <p:sp>
        <p:nvSpPr>
          <p:cNvPr id="37" name="Shape 33"/>
          <p:cNvSpPr/>
          <p:nvPr/>
        </p:nvSpPr>
        <p:spPr>
          <a:xfrm flipH="1">
            <a:off x="5394960" y="3611880"/>
            <a:ext cx="2011680" cy="54864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headEnd type="none"/>
            <a:tailEnd type="triangle"/>
          </a:ln>
        </p:spPr>
      </p:sp>
      <p:sp>
        <p:nvSpPr>
          <p:cNvPr id="38" name="Text 34"/>
          <p:cNvSpPr/>
          <p:nvPr/>
        </p:nvSpPr>
        <p:spPr>
          <a:xfrm>
            <a:off x="548640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PRA candidates</a:t>
            </a:r>
            <a:endParaRPr lang="en-US" sz="700" dirty="0"/>
          </a:p>
        </p:txBody>
      </p:sp>
      <p:sp>
        <p:nvSpPr>
          <p:cNvPr id="39" name="Shape 35"/>
          <p:cNvSpPr/>
          <p:nvPr/>
        </p:nvSpPr>
        <p:spPr>
          <a:xfrm flipH="1">
            <a:off x="5394960" y="2926080"/>
            <a:ext cx="640080" cy="10515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headEnd type="none"/>
            <a:tailEnd type="triangle"/>
          </a:ln>
        </p:spPr>
      </p:sp>
      <p:sp>
        <p:nvSpPr>
          <p:cNvPr id="40" name="Text 36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Contribution (1/3): Authoring &amp; Extraction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 — Feature Requests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raise framework needs as GitHub Issues. The Core Team triages and implements.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1371600" cy="868680"/>
          </a:xfrm>
          <a:prstGeom prst="roundRect">
            <a:avLst>
              <a:gd name="adj" fmla="val 10526"/>
            </a:avLst>
          </a:prstGeom>
          <a:solidFill>
            <a:srgbClr val="EEF0F3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2240280"/>
            <a:ext cx="329184" cy="329184"/>
          </a:xfrm>
          <a:prstGeom prst="ellipse">
            <a:avLst/>
          </a:prstGeom>
          <a:solidFill>
            <a:srgbClr val="9AA0A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[Person]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4600" y="2148840"/>
            <a:ext cx="777240" cy="777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337560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 flipV="1">
            <a:off x="1828800" y="2542032"/>
            <a:ext cx="685800" cy="1828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94560" y="132588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4028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PRA Repo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 flipV="1">
            <a:off x="2926080" y="1828800"/>
            <a:ext cx="914" cy="3200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572000" y="1188720"/>
            <a:ext cx="4023360" cy="2194560"/>
          </a:xfrm>
          <a:prstGeom prst="rect">
            <a:avLst/>
          </a:prstGeom>
          <a:solidFill>
            <a:srgbClr val="FBFBFC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4572000" y="1261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PRA Repo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120640" y="1783080"/>
            <a:ext cx="2194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920240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2926080" y="1417320"/>
            <a:ext cx="2194560" cy="5943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3566160" y="1325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issue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1554480" y="3657600"/>
            <a:ext cx="18288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554480" y="36576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0"/>
          <p:cNvSpPr/>
          <p:nvPr/>
        </p:nvSpPr>
        <p:spPr>
          <a:xfrm>
            <a:off x="1600200" y="37490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Guide </a:t>
            </a:r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[Agent AI]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1645920" y="40050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architect to understand PRAs and fill the templates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3520440" y="3657600"/>
            <a:ext cx="1874520" cy="96012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520440" y="3657600"/>
            <a:ext cx="187452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4"/>
          <p:cNvSpPr/>
          <p:nvPr/>
        </p:nvSpPr>
        <p:spPr>
          <a:xfrm>
            <a:off x="3566160" y="3749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Extractor </a:t>
            </a:r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[Agent AI]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611880" y="40050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existing patterns from Confluence or GitHub repos as PRA candidates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 flipH="1">
            <a:off x="2468880" y="2926080"/>
            <a:ext cx="182880" cy="7315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3200400" y="2926080"/>
            <a:ext cx="1005840" cy="7315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2" name="Shape 28"/>
          <p:cNvSpPr/>
          <p:nvPr/>
        </p:nvSpPr>
        <p:spPr>
          <a:xfrm>
            <a:off x="7040880" y="3703320"/>
            <a:ext cx="155448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086600" y="3703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 flipH="1">
            <a:off x="5394960" y="4023360"/>
            <a:ext cx="1645920" cy="13716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headEnd type="none"/>
            <a:tailEnd type="triangle"/>
          </a:ln>
        </p:spPr>
      </p:sp>
      <p:sp>
        <p:nvSpPr>
          <p:cNvPr id="35" name="Text 31"/>
          <p:cNvSpPr/>
          <p:nvPr/>
        </p:nvSpPr>
        <p:spPr>
          <a:xfrm>
            <a:off x="548640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candidates</a:t>
            </a:r>
            <a:endParaRPr lang="en-US" sz="700" dirty="0"/>
          </a:p>
        </p:txBody>
      </p:sp>
      <p:sp>
        <p:nvSpPr>
          <p:cNvPr id="36" name="Text 32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Contribution (2/3): Feature Requests via GitHub Issues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Contribution — Submission &amp; Governance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Pull Request triggers the AAA governance. After approval, the PR is merged and auto-published.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331720"/>
            <a:ext cx="1280160" cy="822960"/>
          </a:xfrm>
          <a:prstGeom prst="roundRect">
            <a:avLst>
              <a:gd name="adj" fmla="val 11111"/>
            </a:avLst>
          </a:prstGeom>
          <a:solidFill>
            <a:srgbClr val="EEF0F3"/>
          </a:solidFill>
          <a:ln w="12700">
            <a:solidFill>
              <a:srgbClr val="9AA0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423160"/>
            <a:ext cx="329184" cy="329184"/>
          </a:xfrm>
          <a:prstGeom prst="ellipse">
            <a:avLst/>
          </a:prstGeom>
          <a:solidFill>
            <a:srgbClr val="9AA0A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743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[Person]</a:t>
            </a:r>
            <a:endParaRPr lang="en-US" sz="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28600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26080" y="25420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 flipV="1">
            <a:off x="1645920" y="2670048"/>
            <a:ext cx="502920" cy="27432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1920240" y="1371600"/>
            <a:ext cx="1280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6596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PRA Repo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 flipV="1">
            <a:off x="2514600" y="1874520"/>
            <a:ext cx="914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1280160" y="3794760"/>
            <a:ext cx="1554480" cy="8686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280160" y="3794760"/>
            <a:ext cx="15544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3867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Guide </a:t>
            </a:r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[AI]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371600" y="40965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PRAs &amp; fill templates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2971800" y="3794760"/>
            <a:ext cx="160020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971800" y="3794760"/>
            <a:ext cx="16002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017520" y="38679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Extractor </a:t>
            </a:r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[AI]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063240" y="40965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patterns from Confluence/GitHub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 flipH="1">
            <a:off x="2103120" y="3017520"/>
            <a:ext cx="182880" cy="7772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2743200" y="3017520"/>
            <a:ext cx="914400" cy="77724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657600" y="1188720"/>
            <a:ext cx="3520440" cy="2743200"/>
          </a:xfrm>
          <a:prstGeom prst="rect">
            <a:avLst/>
          </a:prstGeom>
          <a:solidFill>
            <a:srgbClr val="FBFBFC"/>
          </a:solidFill>
          <a:ln w="12700">
            <a:solidFill>
              <a:srgbClr val="6B7280"/>
            </a:solidFill>
            <a:prstDash val="dash"/>
          </a:ln>
        </p:spPr>
      </p:sp>
      <p:sp>
        <p:nvSpPr>
          <p:cNvPr id="26" name="Text 23"/>
          <p:cNvSpPr/>
          <p:nvPr/>
        </p:nvSpPr>
        <p:spPr>
          <a:xfrm>
            <a:off x="3657600" y="124358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PRA Repo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886200" y="160020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31920" y="16002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886200" y="3063240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31920" y="30632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Branch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572000" y="2103120"/>
            <a:ext cx="914" cy="9601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461772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3200400" y="1627632"/>
            <a:ext cx="68580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34" name="Text 31"/>
          <p:cNvSpPr/>
          <p:nvPr/>
        </p:nvSpPr>
        <p:spPr>
          <a:xfrm>
            <a:off x="2743200" y="1463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486400" y="2148840"/>
            <a:ext cx="1554480" cy="960120"/>
          </a:xfrm>
          <a:prstGeom prst="rect">
            <a:avLst/>
          </a:prstGeom>
          <a:solidFill>
            <a:srgbClr val="FDF6E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59552" y="221284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AAA Governance
</a:t>
            </a:r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AAA session, get the PRA approved, then approve the PR to deploy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 flipH="1" flipV="1">
            <a:off x="5303520" y="2377440"/>
            <a:ext cx="182880" cy="22860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  <a:headEnd type="none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7498080" y="1463040"/>
            <a:ext cx="14173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543800" y="14630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498080" y="3154680"/>
            <a:ext cx="141732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43800" y="31546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 flipV="1">
            <a:off x="5303520" y="1783080"/>
            <a:ext cx="2194560" cy="146304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5303520" y="3310128"/>
            <a:ext cx="2194560" cy="7315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4" name="Text 41"/>
          <p:cNvSpPr/>
          <p:nvPr/>
        </p:nvSpPr>
        <p:spPr>
          <a:xfrm>
            <a:off x="548640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auto-publish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Contribution (3/3): Submission &amp; Governance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— The AAA Process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 is reviewed like any architecture deliverable, at the existing AAA committee.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600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1600200" cy="640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1A1A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88366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Pull Request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opens a PR — signals the PRA is ready for review and catalog inclusion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965960" y="2514600"/>
            <a:ext cx="155448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121408" y="1554480"/>
            <a:ext cx="1600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21408" y="1554480"/>
            <a:ext cx="1600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2670048" y="17830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632" y="1883664"/>
            <a:ext cx="301752" cy="30175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67128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Schedule AAA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212848" y="2743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session at the AAA — the bank's existing Architecture governance committee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721608" y="2514600"/>
            <a:ext cx="155448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877056" y="1554480"/>
            <a:ext cx="1600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877056" y="1554480"/>
            <a:ext cx="16002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Shape 17"/>
          <p:cNvSpPr/>
          <p:nvPr/>
        </p:nvSpPr>
        <p:spPr>
          <a:xfrm>
            <a:off x="4425696" y="17830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83664"/>
            <a:ext cx="301752" cy="3017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22776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Present &amp; Review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3968496" y="2743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 is presented and reviewed like any architecture deliverable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5477256" y="2514600"/>
            <a:ext cx="155448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26" name="Shape 21"/>
          <p:cNvSpPr/>
          <p:nvPr/>
        </p:nvSpPr>
        <p:spPr>
          <a:xfrm>
            <a:off x="5632704" y="1554480"/>
            <a:ext cx="1600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632704" y="1554480"/>
            <a:ext cx="160020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Shape 23"/>
          <p:cNvSpPr/>
          <p:nvPr/>
        </p:nvSpPr>
        <p:spPr>
          <a:xfrm>
            <a:off x="6181344" y="178308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883664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78424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Approval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724144" y="2743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AAA approval, the reviewer approves the PR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7232904" y="2514600"/>
            <a:ext cx="155448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7388352" y="1554480"/>
            <a:ext cx="1600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388352" y="1554480"/>
            <a:ext cx="1600200" cy="64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Shape 29"/>
          <p:cNvSpPr/>
          <p:nvPr/>
        </p:nvSpPr>
        <p:spPr>
          <a:xfrm>
            <a:off x="7936992" y="178308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576" y="1883664"/>
            <a:ext cx="301752" cy="30175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434072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Merge &amp; Publish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7479792" y="27432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merged to main → auto-published to Pages + Confluence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365760" y="3794760"/>
            <a:ext cx="8366760" cy="868680"/>
          </a:xfrm>
          <a:prstGeom prst="rect">
            <a:avLst/>
          </a:prstGeom>
          <a:solidFill>
            <a:srgbClr val="FDF6E3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5760" y="379476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1" name="Text 34"/>
          <p:cNvSpPr/>
          <p:nvPr/>
        </p:nvSpPr>
        <p:spPr>
          <a:xfrm>
            <a:off x="594360" y="384048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ceremony invented. 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 flows through the AAA — the architecture committee architects already know. Which AAA depends on scope: the transversal team's committee or the domain's committee (decentralized).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Governance process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E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walkthrough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GitHub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286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the filterable PRA dashboard on GitHub Pages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link / screenshot placeholder 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AI Agents in VS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29260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22402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PRA Explorer, Guide &amp; Extractor running in VS Code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link / screenshot placeholder ]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a New Team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EC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your team joins the registry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— Team Creation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team gets its own space in the registry, under the right scope.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Transversal team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consumed bank-wide (e.g. Kafka, MFT, IAM)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317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content/pras/{lang}/transversale/
</a:t>
            </a:r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your-team/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integration/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application/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team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scoped to the domain (e.g. Wealth, Cards)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3317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content/pras/{lang}/par-domaine/
</a:t>
            </a:r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your-domain/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business/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application/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your folder, organize PRAs by category.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— Set Up Team Governance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decentralized — your team owns the review of its own PRAs.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173736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Designate reviewers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architects who will review and approve PRAs in your team's scope (CODEOWNERS).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46304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46304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97680" y="1737360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745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Plug into your AAA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6616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PRA reviews to your existing AAA committee — transversal or domain. No new ceremony.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17920" y="1463040"/>
            <a:ext cx="265176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178040" y="1737360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745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550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Define your thresholds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46520" y="3108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proven-in-use criteria before a PRA is operationalized in your space.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solidFill>
            <a:srgbClr val="FDF3F4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Core Team stays in the loop to ensure coherence across all teams.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— Create Your First PRA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AI agents, your first PRA takes hours, not days.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536192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18488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44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Explore first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23360" y="144475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PRA Explorer if a similar pattern already exists — avoid duplicating.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212848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85800" y="23774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45973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286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Author with the Guide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023360" y="22860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 Guide walks you through each template section and the metadata.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3054096"/>
            <a:ext cx="8229600" cy="7315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21868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330098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1272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Extract if it exists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023360" y="3127248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PRA Extractor at a Confluence page or repo to bootstrap a draft.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57200" y="3895344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4059936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4142232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96849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Submit via PR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023360" y="3968496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Request, schedule the AAA, get approval, merge — and it's live.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65760" y="495604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Create a first PRA with PRA Guide &amp; PRA Explorer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Welcome to the PRA Registry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Capitalize on proven architectures. Accelerate delivery.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Standardize practices — across every team and domain.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 Registry — Detailed Overview</dc:title>
  <dc:subject>PptxGenJS Presentation</dc:subject>
  <dc:creator>Amara Fofana</dc:creator>
  <cp:lastModifiedBy>Amara Fofana</cp:lastModifiedBy>
  <cp:revision>1</cp:revision>
  <dcterms:created xsi:type="dcterms:W3CDTF">2026-06-04T12:35:54Z</dcterms:created>
  <dcterms:modified xsi:type="dcterms:W3CDTF">2026-06-04T12:35:54Z</dcterms:modified>
</cp:coreProperties>
</file>