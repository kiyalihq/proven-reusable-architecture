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Registre PRA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Proven Reusable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Nationale du Canada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d'entreprise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Qu'est-ce qu'un PRA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Proven Reusable Architecture est un patron architectural validé en production, documenté et prêt à être réutilisé.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Éprouvé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06040" y="19202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4884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Documenté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97680" y="19202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116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4048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Réutilisable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989320" y="192024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0116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3212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Maintenu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680960" y="19202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0116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2376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AI-Friendly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5720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214884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ADR, exemples,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384048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Multi-contexte,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multi-équipe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53212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22376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19"/>
          <p:cNvSpPr/>
          <p:nvPr/>
        </p:nvSpPr>
        <p:spPr>
          <a:xfrm>
            <a:off x="73152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~200</a:t>
            </a:r>
            <a:endParaRPr lang="en-US" sz="2800" dirty="0"/>
          </a:p>
        </p:txBody>
      </p:sp>
      <p:sp>
        <p:nvSpPr>
          <p:cNvPr id="27" name="Text 20"/>
          <p:cNvSpPr/>
          <p:nvPr/>
        </p:nvSpPr>
        <p:spPr>
          <a:xfrm>
            <a:off x="73152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 ciblés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01752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800" dirty="0"/>
          </a:p>
        </p:txBody>
      </p:sp>
      <p:sp>
        <p:nvSpPr>
          <p:cNvPr id="29" name="Text 22"/>
          <p:cNvSpPr/>
          <p:nvPr/>
        </p:nvSpPr>
        <p:spPr>
          <a:xfrm>
            <a:off x="301752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Archétypes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30352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31" name="Text 24"/>
          <p:cNvSpPr/>
          <p:nvPr/>
        </p:nvSpPr>
        <p:spPr>
          <a:xfrm>
            <a:off x="530352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de la plateforme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est la source de vérité unique. Deux cibles de publication alimentées automatiquement.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17520" y="1554480"/>
            <a:ext cx="3108960" cy="1280160"/>
          </a:xfrm>
          <a:prstGeom prst="rect">
            <a:avLst/>
          </a:prstGeom>
          <a:solidFill>
            <a:srgbClr val="C810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0" y="2011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vérité unique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 • Guides • Config • Agents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645920" cy="164592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688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194560" y="2377440"/>
            <a:ext cx="82296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10312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Contribuer (PR)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0" y="3200400"/>
            <a:ext cx="1828800" cy="640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2918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14800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0" y="283464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97280" y="4206240"/>
            <a:ext cx="2560320" cy="7315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1280160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filtrable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0" y="4206240"/>
            <a:ext cx="2560320" cy="7315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669280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entreprise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657600" y="3840480"/>
            <a:ext cx="-128016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0" y="3840480"/>
            <a:ext cx="128016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les architectes l'utilisent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7490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architectural identifié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33756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0584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archétype,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statut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02336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05840" y="3977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la fiche PRA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(ADR, proven-in-use)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470916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709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05840" y="4663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37560" y="1097280"/>
            <a:ext cx="2651760" cy="37490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Shape 20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630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5204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IA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3520440" y="265176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3"/>
          <p:cNvSpPr/>
          <p:nvPr/>
        </p:nvSpPr>
        <p:spPr>
          <a:xfrm>
            <a:off x="352044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88620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Explorer : contexte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recommandations 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pertinents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520440" y="333756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6"/>
          <p:cNvSpPr/>
          <p:nvPr/>
        </p:nvSpPr>
        <p:spPr>
          <a:xfrm>
            <a:off x="352044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388620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Guide : questions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→ étapes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concrètes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217920" y="1097280"/>
            <a:ext cx="2651760" cy="3749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Shape 30"/>
          <p:cNvSpPr/>
          <p:nvPr/>
        </p:nvSpPr>
        <p:spPr>
          <a:xfrm>
            <a:off x="7132320" y="137160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57200" cy="4572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Contribuer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6400800" y="2651760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8" name="Text 33"/>
          <p:cNvSpPr/>
          <p:nvPr/>
        </p:nvSpPr>
        <p:spPr>
          <a:xfrm>
            <a:off x="640080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76656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validé en prod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400800" y="3337560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1" name="Text 36"/>
          <p:cNvSpPr/>
          <p:nvPr/>
        </p:nvSpPr>
        <p:spPr>
          <a:xfrm>
            <a:off x="640080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76656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(FR + EN)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6400800" y="4023360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4" name="Text 39"/>
          <p:cNvSpPr/>
          <p:nvPr/>
        </p:nvSpPr>
        <p:spPr>
          <a:xfrm>
            <a:off x="640080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766560" y="3977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une PR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CODEOWNERS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6400800" y="4709160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7" name="Text 42"/>
          <p:cNvSpPr/>
          <p:nvPr/>
        </p:nvSpPr>
        <p:spPr>
          <a:xfrm>
            <a:off x="6400800" y="4709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766560" y="4663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→ Publication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Pages + Confluence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du contenu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PRA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011680" cy="4572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Bank-Wide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920240"/>
            <a:ext cx="2011680" cy="4572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Domain-Wide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554480"/>
            <a:ext cx="-210312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554480"/>
            <a:ext cx="210312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62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84448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95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06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17136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17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65176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01752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38328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Patrimoine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411480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0" y="2651760"/>
            <a:ext cx="3200400" cy="210312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0" y="2651760"/>
            <a:ext cx="54864" cy="2103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PRA contient 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31089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signalétique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(métadonnées, statut, tags)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technique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(contexte, architecture, ADR)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d'expérience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(proven-in-use quantifiés)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Anatomie d'un PRA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PRA suit un template standardisé en AsciiDoc (.adoc) avec des métadonnées structurées.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3383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(en-tête du fichier .adoc)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:pra-name: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7744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Gateway Pattern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:pra-archetype: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:pra-status: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7744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operationalizing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:pra-scope: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domain-wide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:pra-origin: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7744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particuliers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:pra-tags: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api, gateway, kong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:pra-version: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7744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1.0.0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:pra-proven-count: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7744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:pra-author: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774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Tremblay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:pra-created: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7744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2025-12-03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du PRA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874520"/>
            <a:ext cx="54864" cy="2926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1874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signalétique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1874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métadonnées auto-généré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221992"/>
            <a:ext cx="5486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22219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2221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phrases, pourquoi ce PRA existe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569464"/>
            <a:ext cx="5486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5694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0" y="2569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/ ne pas utiliser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2916936"/>
            <a:ext cx="54864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9169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0" y="2916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PlantUML + stack tech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264408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32644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0" y="3264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avec options comparées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611880"/>
            <a:ext cx="54864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00800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pas-à-pas avec code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959352"/>
            <a:ext cx="54864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3959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d'expérience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00800" y="39593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Proven-in-use quantifiés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306824"/>
            <a:ext cx="54864" cy="29260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43068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400800" y="43068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et risques connus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4654296"/>
            <a:ext cx="54864" cy="29260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3" name="Text 51"/>
          <p:cNvSpPr/>
          <p:nvPr/>
        </p:nvSpPr>
        <p:spPr>
          <a:xfrm>
            <a:off x="4937760" y="4654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400800" y="46542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externes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6" name="Text 54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disponibles : pra-template-fr.adoc • pra-template-en.adoc • adr-template.adoc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D'où viennent les PRAs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pratique et programme alimente le registre. Le registre centralise et rend accessible à tous.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0" y="2103120"/>
            <a:ext cx="2194560" cy="2194560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2468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BANK-WIDE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228600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82880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solutions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60320" y="1984248"/>
            <a:ext cx="914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2286000"/>
            <a:ext cx="228600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" y="233172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7744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560320" y="2487168"/>
            <a:ext cx="914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" y="2788920"/>
            <a:ext cx="228600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9" name="Shape 15"/>
          <p:cNvSpPr/>
          <p:nvPr/>
        </p:nvSpPr>
        <p:spPr>
          <a:xfrm>
            <a:off x="365760" y="283464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80360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2788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Transformation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560320" y="2990088"/>
            <a:ext cx="914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74320" y="3291840"/>
            <a:ext cx="228600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4" name="Shape 19"/>
          <p:cNvSpPr/>
          <p:nvPr/>
        </p:nvSpPr>
        <p:spPr>
          <a:xfrm>
            <a:off x="365760" y="333756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8328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2560320" y="3493008"/>
            <a:ext cx="914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74320" y="3794760"/>
            <a:ext cx="228600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9" name="Shape 23"/>
          <p:cNvSpPr/>
          <p:nvPr/>
        </p:nvSpPr>
        <p:spPr>
          <a:xfrm>
            <a:off x="365760" y="384048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86200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7724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2560320" y="3995928"/>
            <a:ext cx="914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274320" y="4297680"/>
            <a:ext cx="228600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4" name="Shape 27"/>
          <p:cNvSpPr/>
          <p:nvPr/>
        </p:nvSpPr>
        <p:spPr>
          <a:xfrm>
            <a:off x="365760" y="434340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389120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77240" y="4297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2560320" y="4498848"/>
            <a:ext cx="914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67512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DOMAIN-WIDE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583680" y="1783080"/>
            <a:ext cx="210312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Text 32"/>
          <p:cNvSpPr/>
          <p:nvPr/>
        </p:nvSpPr>
        <p:spPr>
          <a:xfrm>
            <a:off x="676656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5669280" y="1984248"/>
            <a:ext cx="914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583680" y="2286000"/>
            <a:ext cx="210312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3" name="Text 35"/>
          <p:cNvSpPr/>
          <p:nvPr/>
        </p:nvSpPr>
        <p:spPr>
          <a:xfrm>
            <a:off x="676656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5669280" y="2487168"/>
            <a:ext cx="914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6583680" y="2788920"/>
            <a:ext cx="210312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6" name="Text 38"/>
          <p:cNvSpPr/>
          <p:nvPr/>
        </p:nvSpPr>
        <p:spPr>
          <a:xfrm>
            <a:off x="676656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Patrimoine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5669280" y="2990088"/>
            <a:ext cx="914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6583680" y="3291840"/>
            <a:ext cx="210312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9" name="Text 41"/>
          <p:cNvSpPr/>
          <p:nvPr/>
        </p:nvSpPr>
        <p:spPr>
          <a:xfrm>
            <a:off x="67665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5669280" y="3493008"/>
            <a:ext cx="914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6583680" y="3794760"/>
            <a:ext cx="210312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2" name="Text 44"/>
          <p:cNvSpPr/>
          <p:nvPr/>
        </p:nvSpPr>
        <p:spPr>
          <a:xfrm>
            <a:off x="6766560" y="3794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5669280" y="3995928"/>
            <a:ext cx="914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Text 47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champ :pra-origin: dans les métadonnées identifie la provenance de chaque PRA.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du repository GitHub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029200" cy="3566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proven-reusable-architecture/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7007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content/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pras/fr/bank-wide/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pras/fr/domain-wide/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pras/en/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guides/ (FR + EN)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8895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.github/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649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agents/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workflows/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CODEOWNERS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0782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build/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553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pra-registry.config.yml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1463040"/>
            <a:ext cx="3108960" cy="10058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1463040"/>
            <a:ext cx="54864" cy="10058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Architectes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1783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 uniquement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FR + 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archétypes × 2 scopes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2651760"/>
            <a:ext cx="3108960" cy="10058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2651760"/>
            <a:ext cx="54864" cy="100584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Équipe 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2971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agents IA, guides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scripts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3840480"/>
            <a:ext cx="3108960" cy="1005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3840480"/>
            <a:ext cx="54864" cy="100584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centralisée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52160" y="4160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vérité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agents et scripts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IA intégrés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agents IA dans VS Code, config-driven et structure-agnostic.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0175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1051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Explorer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 et recommande des patterns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"Je dois intégrer Salesforce dans le domaine Entreprises"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017520"/>
            <a:ext cx="347472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1089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Lit la config → Scanne les PRAs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"Salesforce FSC disponible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 proven-in-use, satisfaction 8/10"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46304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0" y="17373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81051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692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Guide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6692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sur les processus et la gouvernance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"Comment soumettre un PRA ?"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0" y="3017520"/>
            <a:ext cx="347472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5212080" y="31089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Lit la config → Consulte les guides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"1. Copier le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Documenter FR + 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Soumettre une PR"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0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Config-driven • Structure-agnostic • Zéro hardcode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Processus de soumission d'un PRA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contribution à l'approbation — traçabilité complète dans la Pull Request.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18288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276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560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une branche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PRA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 + EN)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03120" y="2377440"/>
            <a:ext cx="4572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137160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86000" y="1371600"/>
            <a:ext cx="18288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Shape 11"/>
          <p:cNvSpPr/>
          <p:nvPr/>
        </p:nvSpPr>
        <p:spPr>
          <a:xfrm>
            <a:off x="2926080" y="155448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32" y="162763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7744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377440" y="2560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ouverte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assignés auto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114800" y="2377440"/>
            <a:ext cx="4572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97680" y="137160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297680" y="137160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7"/>
          <p:cNvSpPr/>
          <p:nvPr/>
        </p:nvSpPr>
        <p:spPr>
          <a:xfrm>
            <a:off x="4937760" y="15544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627632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8912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Cérémonie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389120" y="2560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Rencontre planifiée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comité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126480" y="2377440"/>
            <a:ext cx="4572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09360" y="137160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309360" y="137160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3"/>
          <p:cNvSpPr/>
          <p:nvPr/>
        </p:nvSpPr>
        <p:spPr>
          <a:xfrm>
            <a:off x="6949440" y="15544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1627632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40080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Décision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400800" y="2560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Approuvé ou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dans la PR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274320" y="3657600"/>
            <a:ext cx="8046720" cy="1188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274320" y="3657600"/>
            <a:ext cx="54864" cy="1188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Text 28"/>
          <p:cNvSpPr/>
          <p:nvPr/>
        </p:nvSpPr>
        <p:spPr>
          <a:xfrm>
            <a:off x="5486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Boucle itérative jusqu'à approbation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548640" y="4069080"/>
            <a:ext cx="3657600" cy="6400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6" name="Text 30"/>
          <p:cNvSpPr/>
          <p:nvPr/>
        </p:nvSpPr>
        <p:spPr>
          <a:xfrm>
            <a:off x="640080" y="40965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Approuvé → CODEOWNERS approuvent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Compte-rendu en commentaire → Merge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480560" y="4069080"/>
            <a:ext cx="3657600" cy="6400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8" name="Text 32"/>
          <p:cNvSpPr/>
          <p:nvPr/>
        </p:nvSpPr>
        <p:spPr>
          <a:xfrm>
            <a:off x="4572000" y="40965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Corrections → Commentaires dans PR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corrige → Nouvelle rencontre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4864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La PR contient tout l'historique : présentations, feedbacks, corrections, compte-rendus.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Gouvernance et CODEOWNERS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20116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65176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Bank-Wide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Architectes Experts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experts cross-domaines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: 2-4 semaines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approbations requises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proven-in-use, 2+ équipes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20116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Domain-Wide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par domaine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architectes / domaine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domaine = son comité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: 5-10 jours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proven-in-use suffisant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201168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Équipe Core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Maintien du framework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équipe hors content/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scripts, templates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agents 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via GitHub Issues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8503920" cy="173736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37560"/>
            <a:ext cx="54864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 — Assignation automatique des reviewers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79552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56032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Fichier modifié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Reviewers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</a:rPr>
                        <a:t>Équipe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content/pras/*/bank-wide/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102E"/>
                          </a:solidFill>
                        </a:rPr>
                        <a:t>@comite-architectes-experts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Bank-Wide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content/pras/*/domain-wide/particuliers/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</a:rPr>
                        <a:t>@comite-gov-particuliers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Domain-Wide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.github/ • build/ • scripts/ • *.yml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C3AED"/>
                          </a:solidFill>
                        </a:rPr>
                        <a:t>@pra-core-team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 de vie et promotion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64592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Cérémonie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01168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188720"/>
            <a:ext cx="2011680" cy="16459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8872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3716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proven-in-use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retours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01168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188720"/>
            <a:ext cx="2011680" cy="16459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4960" y="137160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recommandé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active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201168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188720"/>
            <a:ext cx="201168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1188720"/>
            <a:ext cx="2011680" cy="5486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recommandé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200400"/>
            <a:ext cx="8503920" cy="17373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200400"/>
            <a:ext cx="54864" cy="1737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Promotion : Domain-Wide → Bank-Wide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processus que la contribution initiale 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977640"/>
            <a:ext cx="17373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977640"/>
            <a:ext cx="17373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prouvé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3+ projets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0" y="4370832"/>
            <a:ext cx="36576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51760" y="3977640"/>
            <a:ext cx="17373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651760" y="3977640"/>
            <a:ext cx="173736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 promotion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89120" y="4370832"/>
            <a:ext cx="36576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977640"/>
            <a:ext cx="17373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754880" y="3977640"/>
            <a:ext cx="17373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Experts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cérémonie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92240" y="4370832"/>
            <a:ext cx="36576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3977640"/>
            <a:ext cx="17373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858000" y="3977640"/>
            <a:ext cx="173736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9" name="Text 47"/>
          <p:cNvSpPr/>
          <p:nvPr/>
        </p:nvSpPr>
        <p:spPr>
          <a:xfrm>
            <a:off x="694944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Approuvé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Bank-Wide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CI/CD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merge sur main met à jour les deux plateformes automatiquement.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82880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011680"/>
            <a:ext cx="7315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645920"/>
            <a:ext cx="2194560" cy="731520"/>
          </a:xfrm>
          <a:prstGeom prst="rect">
            <a:avLst/>
          </a:prstGeom>
          <a:solidFill>
            <a:srgbClr val="C810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Publish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0" y="1828800"/>
            <a:ext cx="11887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2194560"/>
            <a:ext cx="11887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417320"/>
            <a:ext cx="2286000" cy="640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240280"/>
            <a:ext cx="2286000" cy="640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39319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 — GitHub Pages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Asciidoctor + PlantUML → 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DataTables.js (filtres interactifs)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DaisyUI (design BNC)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 auto-générée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319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— Confluence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611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Publisher (Docker)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automatique FR / 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auto (archétype, scope)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Cloud + Data Center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Demandes de fonctionnalités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architectes suggèrent des améliorations au framework via GitHub Issues.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architectes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Modifient content/pras/ uniquement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(PRAs FR + EN)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Ouvrent des Issues GitHub pour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Nouvelles fonctionnalités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Améliorations du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Bugs ou problèmes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Suggestions de templates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54480"/>
            <a:ext cx="3931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Équipe Core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Maintient tout hors content/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CI/CD, scripts, build, config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Traite les Issues GitHub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Priorise et planifie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Implémente les changements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Maintient les agents 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Évolue les templates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État actuel — Ce qui est livré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9319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GitHub central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188720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AsciiDoc, config centralisée, templates FR/EN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459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645920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Explorer + PRA Guide dans VS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39319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0312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de démonstration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103120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 de démonstration, 7 archétypes, 2 scopes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603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56032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GitHub Pages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2560320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 Asciidoctor + PlantUML, design BNC, DataTables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39319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175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01752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Confluence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3017520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auto FR/EN, hiérarchie, labels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4747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47472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CI/CD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3474720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Pages + Publish Confluence à chaque merge sur main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39319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319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93192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Bilingue complet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3931920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contenu et la navigation en français et anglais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389120"/>
            <a:ext cx="82296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3891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438912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PlantUML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49040" y="4389120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d'architecture intégrés dans les PRAs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Prêt pour le déploiement dans l'environnement de la banque.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Prochaines étapes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10698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dans l'environnement BNC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Enterprise + Confluence Data Center 9.2.9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7099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les comités de gouvernance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Membres, rôles, calendrier des cérémonies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350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 CODEOWNERS et branch protection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Assignation auto des reviewers, approbations requises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2990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les agents IA avec les architectes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 Explorer et PRA Guide en conditions réelles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3630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Peupler avec les premiers vrais PRAs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8862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Remplacer les démos par des patterns réels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2976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42702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les premiers contributeurs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45262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Onboarding, templates d'issues, documentation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57200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PRA — Banque Nationale du Canada — Architecture d'entreprise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Registre PRA — Banque Nationale du Canada</dc:title>
  <dc:subject>PptxGenJS Presentation</dc:subject>
  <dc:creator>Amara Fofana</dc:creator>
  <cp:lastModifiedBy>Amara Fofana</cp:lastModifiedBy>
  <cp:revision>1</cp:revision>
  <dcterms:created xsi:type="dcterms:W3CDTF">2026-03-19T16:14:45Z</dcterms:created>
  <dcterms:modified xsi:type="dcterms:W3CDTF">2026-03-19T16:14:45Z</dcterms:modified>
</cp:coreProperties>
</file>