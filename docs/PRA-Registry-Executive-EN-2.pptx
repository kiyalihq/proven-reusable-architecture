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Registry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Proven Reusable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Bank of Canada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—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7772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53312"/>
            <a:ext cx="411480" cy="4114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234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Reinventing the wheel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554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solve the same architectural problems independently, wasting months of effort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54864" cy="7772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267712"/>
            <a:ext cx="411480" cy="4114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148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knowledge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patterns exist in silos — no central place to find and reuse them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54864" cy="7772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182112"/>
            <a:ext cx="411480" cy="4114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063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practices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shared standards, each team builds differently, increasing maintenance cost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096512"/>
            <a:ext cx="411480" cy="4114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96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3977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4297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pattern works (or fails), there's no structured way to share that experience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National Bank of Canada — Executive Overview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Solution: PRA Registry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platform to catalog, share, and govern production-validated architectural patterns.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25603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69164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7830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Capitalize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patterns already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production.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reinventing.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37560" y="1463040"/>
            <a:ext cx="2651760" cy="25603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46304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0"/>
          <p:cNvSpPr/>
          <p:nvPr/>
        </p:nvSpPr>
        <p:spPr>
          <a:xfrm>
            <a:off x="4251960" y="16916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830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Accelerate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52044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right pattern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weeks.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assist you.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17920" y="1463040"/>
            <a:ext cx="2651760" cy="25603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463040"/>
            <a:ext cx="265176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Shape 15"/>
          <p:cNvSpPr/>
          <p:nvPr/>
        </p:nvSpPr>
        <p:spPr>
          <a:xfrm>
            <a:off x="7132320" y="169164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78308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80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Standardize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640080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architecture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domains.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quality.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19"/>
          <p:cNvSpPr/>
          <p:nvPr/>
        </p:nvSpPr>
        <p:spPr>
          <a:xfrm>
            <a:off x="9144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~200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914400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292608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2926080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Archetypes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93776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4937760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94944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Text 26"/>
          <p:cNvSpPr/>
          <p:nvPr/>
        </p:nvSpPr>
        <p:spPr>
          <a:xfrm>
            <a:off x="6949440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channels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National Bank of Canada — Executive Overview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6 Archetypes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PRA belongs to one archetype — the entry point that helps architects find the right pattern.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15544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65176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4592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46504"/>
            <a:ext cx="393192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6733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1965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systems communicate?"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· MFT · Events · Messaging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1417320"/>
            <a:ext cx="2651760" cy="155448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417320"/>
            <a:ext cx="265176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1"/>
          <p:cNvSpPr/>
          <p:nvPr/>
        </p:nvSpPr>
        <p:spPr>
          <a:xfrm>
            <a:off x="3383280" y="1645920"/>
            <a:ext cx="594360" cy="59436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864" y="1746504"/>
            <a:ext cx="393192" cy="3931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69080" y="16733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069080" y="1965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apps are built?"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38328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· BFF · Microservices · DDD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35040" y="1417320"/>
            <a:ext cx="2651760" cy="155448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5040" y="1417320"/>
            <a:ext cx="26517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Shape 17"/>
          <p:cNvSpPr/>
          <p:nvPr/>
        </p:nvSpPr>
        <p:spPr>
          <a:xfrm>
            <a:off x="6217920" y="164592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746504"/>
            <a:ext cx="393192" cy="39319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03720" y="16733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903720" y="1965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data is managed?"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21792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Mesh · Lakehouse · MDM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65760" y="3108960"/>
            <a:ext cx="2651760" cy="155448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65760" y="3108960"/>
            <a:ext cx="265176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8" name="Shape 23"/>
          <p:cNvSpPr/>
          <p:nvPr/>
        </p:nvSpPr>
        <p:spPr>
          <a:xfrm>
            <a:off x="548640" y="3337560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438144"/>
            <a:ext cx="393192" cy="39319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34440" y="33649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234440" y="3657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systems are secured?"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4864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· MFA · Zero Trust · IDP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200400" y="3108960"/>
            <a:ext cx="2651760" cy="1554480"/>
          </a:xfrm>
          <a:prstGeom prst="rect">
            <a:avLst/>
          </a:prstGeom>
          <a:solidFill>
            <a:srgbClr val="ECFE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200400" y="3108960"/>
            <a:ext cx="265176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Shape 29"/>
          <p:cNvSpPr/>
          <p:nvPr/>
        </p:nvSpPr>
        <p:spPr>
          <a:xfrm>
            <a:off x="3383280" y="3337560"/>
            <a:ext cx="594360" cy="5943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3438144"/>
            <a:ext cx="393192" cy="39319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069080" y="33649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Engineering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4069080" y="3657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it's deployed and operated?"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338328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· IaC · Observability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035040" y="3108960"/>
            <a:ext cx="2651760" cy="155448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035040" y="3108960"/>
            <a:ext cx="26517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Shape 35"/>
          <p:cNvSpPr/>
          <p:nvPr/>
        </p:nvSpPr>
        <p:spPr>
          <a:xfrm>
            <a:off x="6217920" y="333756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3438144"/>
            <a:ext cx="393192" cy="39319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903720" y="33649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6903720" y="3657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processes are standardized?"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621792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· KYC · Payments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National Bank of Canada — Executive Overview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Architects, assisted by AI agents, contribute to and consult PRAs through Git.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737360" cy="173736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65760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691640" y="2377440"/>
            <a:ext cx="914400" cy="91440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54203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17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82880" y="33832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+ AI assistants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840480" y="1828800"/>
            <a:ext cx="1828800" cy="1280160"/>
          </a:xfrm>
          <a:prstGeom prst="rect">
            <a:avLst/>
          </a:prstGeom>
          <a:solidFill>
            <a:srgbClr val="C8102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9659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3484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02336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truth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02336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PRAs)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949440" y="1417320"/>
            <a:ext cx="1920240" cy="82296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694944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94944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dashboard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949440" y="2697480"/>
            <a:ext cx="1920240" cy="82296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694944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94944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wiki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2697480" y="2240280"/>
            <a:ext cx="114300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25" name="Text 20"/>
          <p:cNvSpPr/>
          <p:nvPr/>
        </p:nvSpPr>
        <p:spPr>
          <a:xfrm>
            <a:off x="2606040" y="1920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2697480" y="2788920"/>
            <a:ext cx="11430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dash"/>
            <a:tailEnd type="triangle"/>
          </a:ln>
        </p:spPr>
      </p:sp>
      <p:sp>
        <p:nvSpPr>
          <p:cNvPr id="27" name="Text 22"/>
          <p:cNvSpPr/>
          <p:nvPr/>
        </p:nvSpPr>
        <p:spPr>
          <a:xfrm>
            <a:off x="2606040" y="28346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5669280" y="2194560"/>
            <a:ext cx="1280160" cy="-3657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5669280" y="2788920"/>
            <a:ext cx="1280160" cy="3657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0" name="Text 25"/>
          <p:cNvSpPr/>
          <p:nvPr/>
        </p:nvSpPr>
        <p:spPr>
          <a:xfrm>
            <a:off x="576072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publish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457200" y="3794760"/>
            <a:ext cx="8229600" cy="3657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Shape 27"/>
          <p:cNvSpPr/>
          <p:nvPr/>
        </p:nvSpPr>
        <p:spPr>
          <a:xfrm>
            <a:off x="1417320" y="393192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3995928"/>
            <a:ext cx="329184" cy="32918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4008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Contribute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502920" y="4709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Architects, with AI assistance,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PRAs in GitHub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4297680" y="39319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3995928"/>
            <a:ext cx="329184" cy="32918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52044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Assistance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3383280" y="4709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read GitHub to recommend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to architects in real time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7178040" y="393192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2048" y="3995928"/>
            <a:ext cx="329184" cy="32918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0080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6263640" y="4709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consult PRAs 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or Confluence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the platform — automated reviewer assignment, formal review ceremonies, full traceability.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371600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371600"/>
            <a:ext cx="1371600" cy="5486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1874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documents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(FR + EN)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54480" y="1965960"/>
            <a:ext cx="41148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1371600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65960" y="1371600"/>
            <a:ext cx="13716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1874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CODEOWNERS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1965960"/>
            <a:ext cx="41148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1371600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0" y="1371600"/>
            <a:ext cx="13716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79476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94760" y="1874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1965960"/>
            <a:ext cx="41148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32120" y="1371600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32120" y="137160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1874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1965960"/>
            <a:ext cx="41148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1371600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0" y="1371600"/>
            <a:ext cx="13716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736092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60920" y="1874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+ Confluence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926080"/>
            <a:ext cx="7955280" cy="457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32004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200400"/>
            <a:ext cx="265176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Transversal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11480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Architects Committee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cross-domain experts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proven-in-use required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32004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320040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333756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Domain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337560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Committee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architects per domain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 proven-in-use sufficient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32004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320040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Team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263640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maintenance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agents, templates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via GitHub Issues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National Bank of Canada — Executive Overview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State — Ready for Deployment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35661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41148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Delivered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Central GitHub repository with AsciiDoc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AI agents (PRA Explorer + PRA Guide)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4323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Demo PRAs covering all 6 archetypes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7797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GitHub Pages with BNC corporate design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127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Confluence auto-publishing (FR + EN)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CI/CD pipelines (auto-deploy on merge)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822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PlantUML diagram support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1696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Fully bilingual (French + English)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4114800" cy="35661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188720"/>
            <a:ext cx="41148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Next Steps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37760" y="1755648"/>
            <a:ext cx="256032" cy="25603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49240" y="1719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BNC environment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1938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Enterprise + Confluence DC 9.2.9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37760" y="2258568"/>
            <a:ext cx="256032" cy="25603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4924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governance committees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24414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roles, ceremony schedule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37760" y="2761488"/>
            <a:ext cx="256032" cy="25603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49240" y="2724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CODEOWNERS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29443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reviewer assignment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3264408"/>
            <a:ext cx="256032" cy="25603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49240" y="32278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AI agents with architects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34472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validation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3767328"/>
            <a:ext cx="256032" cy="25603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49240" y="3730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with real PRAs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49240" y="39502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demo content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37760" y="4270248"/>
            <a:ext cx="256032" cy="25603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4270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49240" y="4233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first contributors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49240" y="44531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and documentation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National Bank of Canada — Executive Overview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Registry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Capitalize on proven architectures.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Accelerate delivery. Standardize practices.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architects served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3 min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93192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publish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9224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Detailed slides for reference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74720" y="1097280"/>
            <a:ext cx="219456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2011680" cy="45720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920240"/>
            <a:ext cx="2011680" cy="45720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Domain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1554480"/>
            <a:ext cx="-210312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1554480"/>
            <a:ext cx="210312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51760"/>
            <a:ext cx="1828800" cy="29260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51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1828800" cy="29260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17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1828800" cy="29260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83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1828800" cy="29260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1828800" cy="29260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14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1828800" cy="29260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480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651760"/>
            <a:ext cx="182880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2651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Particuliers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017520"/>
            <a:ext cx="182880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017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383280"/>
            <a:ext cx="182880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383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Mgmt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749040"/>
            <a:ext cx="182880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4114800"/>
            <a:ext cx="182880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4114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Content Structure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Template Anatomy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4023360" cy="3383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(.adoc header)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:pra-name: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7744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Gateway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:pra-archetype: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77440" y="2103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:pra-status: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77440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operationalizing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:pra-scope: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77440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by-domain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:pra-origin: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77440" y="2926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particuliers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:pra-tags: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77440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api, gateway, kong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:pra-version: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77440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1.0.0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:pra-proven-count: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7744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:pra-author: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77440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Tremblay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:pra-created: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377440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2025-12-03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Sections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1874520"/>
            <a:ext cx="54864" cy="2926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1874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sheet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0" y="1874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metadata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221992"/>
            <a:ext cx="54864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2219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0" y="22219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PRA exists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569464"/>
            <a:ext cx="54864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25694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0" y="25694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/ not to use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2916936"/>
            <a:ext cx="54864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29169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0" y="2916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PlantUML + tech stack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264408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32644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00800" y="3264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options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611880"/>
            <a:ext cx="54864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3611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0" y="3611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code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54880" y="3959352"/>
            <a:ext cx="54864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4937760" y="39593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400800" y="39593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Proven-in-use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4306824"/>
            <a:ext cx="54864" cy="29260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9" name="Text 47"/>
          <p:cNvSpPr/>
          <p:nvPr/>
        </p:nvSpPr>
        <p:spPr>
          <a:xfrm>
            <a:off x="4937760" y="43068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400800" y="43068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risks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54880" y="4654296"/>
            <a:ext cx="54864" cy="29260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2" name="Text 50"/>
          <p:cNvSpPr/>
          <p:nvPr/>
        </p:nvSpPr>
        <p:spPr>
          <a:xfrm>
            <a:off x="4937760" y="4654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400800" y="46542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links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PRA Template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029200" cy="35661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proven-reusable-architecture/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7007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content/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pras/fr/transversale/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pras/fr/par-domaine/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4140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pras/en/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guides/ (FR + EN)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8895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templates/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127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.github/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3649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agents/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6027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workflows/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CODEOWNERS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0782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build/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3159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scripts/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5537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pra-registry.config.yml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0" y="1463040"/>
            <a:ext cx="3108960" cy="100584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0" y="1463040"/>
            <a:ext cx="54864" cy="100584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Zone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52160" y="17830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 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FR + 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2651760"/>
            <a:ext cx="3108960" cy="100584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0" y="2651760"/>
            <a:ext cx="54864" cy="1005840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 Zone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52160" y="29718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AI agents, guides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CODEOWNERS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3840480"/>
            <a:ext cx="3108960" cy="10058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0" y="3840480"/>
            <a:ext cx="54864" cy="100584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Config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852160" y="4160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agents &amp; scripts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Repository Structure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 and Promotion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164592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3716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Governance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2011680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188720"/>
            <a:ext cx="2011680" cy="16459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188720"/>
            <a:ext cx="20116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13716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6032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 proven-in-use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feedback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2011680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188720"/>
            <a:ext cx="2011680" cy="16459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18872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5394960" y="137160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maintenance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2011680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1188720"/>
            <a:ext cx="2011680" cy="16459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1188720"/>
            <a:ext cx="2011680" cy="5486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7" name="Shape 25"/>
          <p:cNvSpPr/>
          <p:nvPr/>
        </p:nvSpPr>
        <p:spPr>
          <a:xfrm>
            <a:off x="7589520" y="1371600"/>
            <a:ext cx="457200" cy="45720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944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recommended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plan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200400"/>
            <a:ext cx="8503920" cy="13716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200400"/>
            <a:ext cx="54864" cy="1371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291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Promotion: By Domain → Transversal  (same process as initial contribution)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3749040"/>
            <a:ext cx="17373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3749040"/>
            <a:ext cx="17373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proven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projects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0" y="4069080"/>
            <a:ext cx="36576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51760" y="3749040"/>
            <a:ext cx="17373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2651760" y="3749040"/>
            <a:ext cx="173736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PR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89120" y="4069080"/>
            <a:ext cx="36576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3749040"/>
            <a:ext cx="17373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754880" y="3749040"/>
            <a:ext cx="17373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Committee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92240" y="4069080"/>
            <a:ext cx="36576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0" y="3749040"/>
            <a:ext cx="17373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6858000" y="3749040"/>
            <a:ext cx="173736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6"/>
          <p:cNvSpPr/>
          <p:nvPr/>
        </p:nvSpPr>
        <p:spPr>
          <a:xfrm>
            <a:off x="694944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Lifecycle &amp; Promotion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 Registry — Executive Overview</dc:title>
  <dc:subject>PptxGenJS Presentation</dc:subject>
  <dc:creator>Amara Fofana</dc:creator>
  <cp:lastModifiedBy>Amara Fofana</cp:lastModifiedBy>
  <cp:revision>1</cp:revision>
  <dcterms:created xsi:type="dcterms:W3CDTF">2026-04-09T16:53:34Z</dcterms:created>
  <dcterms:modified xsi:type="dcterms:W3CDTF">2026-04-09T16:53:34Z</dcterms:modified>
</cp:coreProperties>
</file>